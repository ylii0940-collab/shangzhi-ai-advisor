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086eed2733418f" /><Relationship Type="http://schemas.openxmlformats.org/officeDocument/2006/relationships/extended-properties" Target="/docProps/app.xml" Id="R5236258896e34aa8" /><Relationship Type="http://schemas.openxmlformats.org/officeDocument/2006/relationships/officeDocument" Target="/ppt/presentation.xml" Id="Ra4a93601837e49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1442bb3a064cfa"/>
  </p:sldMasterIdLst>
  <p:notesMasterIdLst>
    <p:notesMasterId xmlns:r="http://schemas.openxmlformats.org/officeDocument/2006/relationships" r:id="R3d7242cf67364f4a"/>
  </p:notesMasterIdLst>
  <p:sldIdLst>
    <p:sldId xmlns:r="http://schemas.openxmlformats.org/officeDocument/2006/relationships" id="256" r:id="R841abf8d400c4f48"/>
    <p:sldId xmlns:r="http://schemas.openxmlformats.org/officeDocument/2006/relationships" id="257" r:id="R62f40589618740a8"/>
    <p:sldId xmlns:r="http://schemas.openxmlformats.org/officeDocument/2006/relationships" id="258" r:id="R252eccdc61eb486b"/>
    <p:sldId xmlns:r="http://schemas.openxmlformats.org/officeDocument/2006/relationships" id="259" r:id="R0336a12e939047e8"/>
    <p:sldId xmlns:r="http://schemas.openxmlformats.org/officeDocument/2006/relationships" id="260" r:id="Rc797da6a8f414739"/>
    <p:sldId xmlns:r="http://schemas.openxmlformats.org/officeDocument/2006/relationships" id="261" r:id="R4ba8e19c92a64aa3"/>
    <p:sldId xmlns:r="http://schemas.openxmlformats.org/officeDocument/2006/relationships" id="262" r:id="R89fa6bd4463b48d4"/>
    <p:sldId xmlns:r="http://schemas.openxmlformats.org/officeDocument/2006/relationships" id="263" r:id="Rf70439820e1941e9"/>
    <p:sldId xmlns:r="http://schemas.openxmlformats.org/officeDocument/2006/relationships" id="264" r:id="Rfad8cb6db81441ba"/>
    <p:sldId xmlns:r="http://schemas.openxmlformats.org/officeDocument/2006/relationships" id="265" r:id="R8db445227f8f43af"/>
    <p:sldId xmlns:r="http://schemas.openxmlformats.org/officeDocument/2006/relationships" id="266" r:id="Rbf4eb2dd65954a32"/>
    <p:sldId xmlns:r="http://schemas.openxmlformats.org/officeDocument/2006/relationships" id="267" r:id="R7f1fb2d48e4449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cbf5147e1f4572" /><Relationship Type="http://schemas.openxmlformats.org/officeDocument/2006/relationships/slideMaster" Target="/ppt/slideMasters/slideMaster1.xml" Id="Rb11442bb3a064cfa" /><Relationship Type="http://schemas.openxmlformats.org/officeDocument/2006/relationships/notesMaster" Target="/ppt/notesMasters/notesMaster1.xml" Id="R3d7242cf67364f4a" /><Relationship Type="http://schemas.openxmlformats.org/officeDocument/2006/relationships/presProps" Target="/ppt/presProps.xml" Id="R8e16ac8a46904847" /><Relationship Type="http://schemas.openxmlformats.org/officeDocument/2006/relationships/tableStyles" Target="/ppt/tableStyles.xml" Id="R1a8d4c6e0c00411d" /><Relationship Type="http://schemas.openxmlformats.org/officeDocument/2006/relationships/slide" Target="/ppt/slides/slide1.xml" Id="R841abf8d400c4f48" /><Relationship Type="http://schemas.openxmlformats.org/officeDocument/2006/relationships/slide" Target="/ppt/slides/slide2.xml" Id="R62f40589618740a8" /><Relationship Type="http://schemas.openxmlformats.org/officeDocument/2006/relationships/slide" Target="/ppt/slides/slide3.xml" Id="R252eccdc61eb486b" /><Relationship Type="http://schemas.openxmlformats.org/officeDocument/2006/relationships/slide" Target="/ppt/slides/slide4.xml" Id="R0336a12e939047e8" /><Relationship Type="http://schemas.openxmlformats.org/officeDocument/2006/relationships/slide" Target="/ppt/slides/slide5.xml" Id="Rc797da6a8f414739" /><Relationship Type="http://schemas.openxmlformats.org/officeDocument/2006/relationships/slide" Target="/ppt/slides/slide6.xml" Id="R4ba8e19c92a64aa3" /><Relationship Type="http://schemas.openxmlformats.org/officeDocument/2006/relationships/slide" Target="/ppt/slides/slide7.xml" Id="R89fa6bd4463b48d4" /><Relationship Type="http://schemas.openxmlformats.org/officeDocument/2006/relationships/slide" Target="/ppt/slides/slide8.xml" Id="Rf70439820e1941e9" /><Relationship Type="http://schemas.openxmlformats.org/officeDocument/2006/relationships/slide" Target="/ppt/slides/slide9.xml" Id="Rfad8cb6db81441ba" /><Relationship Type="http://schemas.openxmlformats.org/officeDocument/2006/relationships/slide" Target="/ppt/slides/slide10.xml" Id="R8db445227f8f43af" /><Relationship Type="http://schemas.openxmlformats.org/officeDocument/2006/relationships/slide" Target="/ppt/slides/slide11.xml" Id="Rbf4eb2dd65954a32" /><Relationship Type="http://schemas.openxmlformats.org/officeDocument/2006/relationships/slide" Target="/ppt/slides/slide12.xml" Id="R7f1fb2d48e4449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4484632c1c4d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7c7f04dbaf4701" /><Relationship Type="http://schemas.openxmlformats.org/officeDocument/2006/relationships/notesMaster" Target="/ppt/notesMasters/notesMaster1.xml" Id="R4ff8f5705ba047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e90da047574fcf" /><Relationship Type="http://schemas.openxmlformats.org/officeDocument/2006/relationships/notesMaster" Target="/ppt/notesMasters/notesMaster1.xml" Id="R598016ed557e4a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5b18a6edd64f2b" /><Relationship Type="http://schemas.openxmlformats.org/officeDocument/2006/relationships/notesMaster" Target="/ppt/notesMasters/notesMaster1.xml" Id="R41920984c5b845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8f712967eb4b50" /><Relationship Type="http://schemas.openxmlformats.org/officeDocument/2006/relationships/notesMaster" Target="/ppt/notesMasters/notesMaster1.xml" Id="R94b6065edf5b42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2928aa69594c9e" /><Relationship Type="http://schemas.openxmlformats.org/officeDocument/2006/relationships/notesMaster" Target="/ppt/notesMasters/notesMaster1.xml" Id="R57b33cb284ab48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c1270fdc9844f6" /><Relationship Type="http://schemas.openxmlformats.org/officeDocument/2006/relationships/notesMaster" Target="/ppt/notesMasters/notesMaster1.xml" Id="Rf7c37367fb5346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626e20b8b54671" /><Relationship Type="http://schemas.openxmlformats.org/officeDocument/2006/relationships/notesMaster" Target="/ppt/notesMasters/notesMaster1.xml" Id="R0d398ed9606349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43e81695d641cd" /><Relationship Type="http://schemas.openxmlformats.org/officeDocument/2006/relationships/notesMaster" Target="/ppt/notesMasters/notesMaster1.xml" Id="R1ba7aae4d18046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983f31f3574d11" /><Relationship Type="http://schemas.openxmlformats.org/officeDocument/2006/relationships/notesMaster" Target="/ppt/notesMasters/notesMaster1.xml" Id="R9e4162f5783043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c5399628e44cbd" /><Relationship Type="http://schemas.openxmlformats.org/officeDocument/2006/relationships/notesMaster" Target="/ppt/notesMasters/notesMaster1.xml" Id="R2c4a6bba2b0b4c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269934b2744303" /><Relationship Type="http://schemas.openxmlformats.org/officeDocument/2006/relationships/notesMaster" Target="/ppt/notesMasters/notesMaster1.xml" Id="R459c30398a4742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a319f96e0c4d50" /><Relationship Type="http://schemas.openxmlformats.org/officeDocument/2006/relationships/notesMaster" Target="/ppt/notesMasters/notesMaster1.xml" Id="R617136f265dd4e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c6ca6dc2445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af7c0a6921402c" /><Relationship Type="http://schemas.openxmlformats.org/officeDocument/2006/relationships/slideLayout" Target="/ppt/slideLayouts/slideLayout1.xml" Id="R5d5138898f7d4a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5138898f7d4a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3e3678e5b4e42" /><Relationship Type="http://schemas.openxmlformats.org/officeDocument/2006/relationships/notesSlide" Target="/ppt/notesSlides/notesSlide1.xml" Id="R8fb7282f62a141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8303bdf5f4f3d" /><Relationship Type="http://schemas.openxmlformats.org/officeDocument/2006/relationships/notesSlide" Target="/ppt/notesSlides/notesSlide2.xml" Id="Rec6ef6fdd54249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02651272e4480" /><Relationship Type="http://schemas.openxmlformats.org/officeDocument/2006/relationships/notesSlide" Target="/ppt/notesSlides/notesSlide3.xml" Id="Rc5085bf16beb4b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6e531e1e94fec" /><Relationship Type="http://schemas.openxmlformats.org/officeDocument/2006/relationships/notesSlide" Target="/ppt/notesSlides/notesSlide4.xml" Id="Rda367aad380146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bdd977f564e89" /><Relationship Type="http://schemas.openxmlformats.org/officeDocument/2006/relationships/notesSlide" Target="/ppt/notesSlides/notesSlide5.xml" Id="R5dd6bf33a82c44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2833e63944fcd" /><Relationship Type="http://schemas.openxmlformats.org/officeDocument/2006/relationships/notesSlide" Target="/ppt/notesSlides/notesSlide6.xml" Id="Rd0c1f2451fc845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9258c4a00459c" /><Relationship Type="http://schemas.openxmlformats.org/officeDocument/2006/relationships/notesSlide" Target="/ppt/notesSlides/notesSlide7.xml" Id="R05f613063edc4c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569f425664586" /><Relationship Type="http://schemas.openxmlformats.org/officeDocument/2006/relationships/notesSlide" Target="/ppt/notesSlides/notesSlide8.xml" Id="R1b042df346594b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4b909dd67461d" /><Relationship Type="http://schemas.openxmlformats.org/officeDocument/2006/relationships/notesSlide" Target="/ppt/notesSlides/notesSlide9.xml" Id="Rcc0aea0acc1c49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e344176f24d11" /><Relationship Type="http://schemas.openxmlformats.org/officeDocument/2006/relationships/notesSlide" Target="/ppt/notesSlides/notesSlide10.xml" Id="R41bc8220cb8146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a656dd1f84d84" /><Relationship Type="http://schemas.openxmlformats.org/officeDocument/2006/relationships/notesSlide" Target="/ppt/notesSlides/notesSlide11.xml" Id="R8de48269dc664b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dd3abf2e14d42" /><Relationship Type="http://schemas.openxmlformats.org/officeDocument/2006/relationships/notesSlide" Target="/ppt/notesSlides/notesSlide12.xml" Id="Rc2b9567254544c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A56652-59F3-45C7-AE89-CFC8CEC5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CDCB7-B53A-402E-8C44-E626FC85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47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EC61C-7BDF-4D97-BFFB-E50F2563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DDE8"/>
                </a:solidFill>
              </a:defRPr>
            </a:pPr>
            <a:r>
              <a:rPr sz="1050" b="1">
                <a:solidFill>
                  <a:srgbClr val="23DDE8"/>
                </a:solidFill>
              </a:rPr>
              <a:t>09 / AI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A1368-4BEC-45B0-AD52-B8E7E2C4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34256F"/>
                </a:solidFill>
              </a:defRPr>
            </a:pPr>
            <a:r>
              <a:rPr sz="4650" b="1">
                <a:solidFill>
                  <a:srgbClr val="34256F"/>
                </a:solidFill>
              </a:rPr>
              <a:t>商智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0E61F-ED0C-4C56-ADB3-C3100687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6E4BFF"/>
                </a:solidFill>
              </a:defRPr>
            </a:pPr>
            <a:r>
              <a:rPr sz="3900" b="1">
                <a:solidFill>
                  <a:srgbClr val="6E4BFF"/>
                </a:solidFill>
              </a:rPr>
              <a:t>AI 商家经营顾问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A6372-8048-4470-A46F-AA115994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6785"/>
                </a:solidFill>
              </a:defRPr>
            </a:pPr>
            <a:r>
              <a:rPr sz="1650" b="0">
                <a:solidFill>
                  <a:srgbClr val="676785"/>
                </a:solidFill>
              </a:rPr>
              <a:t>从经营异常到可执行行动的 AI 产品闭环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269F6-88EA-4342-A065-AA86EFB8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190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4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27559-8B91-44E0-BA07-68E4F9EF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4BFF"/>
                </a:solidFill>
              </a:defRPr>
            </a:pPr>
            <a:r>
              <a:rPr sz="975" b="1">
                <a:solidFill>
                  <a:srgbClr val="6E4BFF"/>
                </a:solidFill>
              </a:rPr>
              <a:t>商家调研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D14E3-57E8-4CED-B780-427A3F3A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714750"/>
            <a:ext cx="1190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C71C4-CFF0-4A30-AE62-4BCDCAFF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743325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36B8"/>
                </a:solidFill>
              </a:defRPr>
            </a:pPr>
            <a:r>
              <a:rPr sz="975" b="1">
                <a:solidFill>
                  <a:srgbClr val="FF36B8"/>
                </a:solidFill>
              </a:rPr>
              <a:t>Prompt策略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D8888-A543-49E3-BB83-BB88D51E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14750"/>
            <a:ext cx="1190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4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51DDC-9FB6-4844-83DA-5EA090F4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43325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4BFF"/>
                </a:solidFill>
              </a:defRPr>
            </a:pPr>
            <a:r>
              <a:rPr sz="975" b="1">
                <a:solidFill>
                  <a:srgbClr val="6E4BFF"/>
                </a:solidFill>
              </a:rPr>
              <a:t>A/B实验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D8D6B-82FD-466C-88D0-9F57E0F5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714750"/>
            <a:ext cx="1190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36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46404-08FD-433F-ACA4-B433DA5C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743325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36B8"/>
                </a:solidFill>
              </a:defRPr>
            </a:pPr>
            <a:r>
              <a:rPr sz="975" b="1">
                <a:solidFill>
                  <a:srgbClr val="FF36B8"/>
                </a:solidFill>
              </a:rPr>
              <a:t>标注评测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65190-C3A8-4F73-9CBC-5563E731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4095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617C6C-97FD-463B-8A92-C2833E2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19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DDE8"/>
                </a:solidFill>
              </a:defRPr>
            </a:pPr>
            <a:r>
              <a:rPr sz="1125" b="1">
                <a:solidFill>
                  <a:srgbClr val="23DDE8"/>
                </a:solidFill>
              </a:rPr>
              <a:t>PORTFOLIO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2250A-72C1-4AB8-A2BB-9FE939AE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526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1D43"/>
                </a:solidFill>
              </a:defRPr>
            </a:pPr>
            <a:r>
              <a:rPr sz="1875" b="1">
                <a:solidFill>
                  <a:srgbClr val="211D43"/>
                </a:solidFill>
              </a:rPr>
              <a:t>定义问题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824069-935C-4EBD-8BAF-5F21B795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E4BFF"/>
                </a:solidFill>
              </a:defRPr>
            </a:pPr>
            <a:r>
              <a:rPr sz="1875" b="1">
                <a:solidFill>
                  <a:srgbClr val="6E4BFF"/>
                </a:solidFill>
              </a:rPr>
              <a:t>→ 设计策略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5009BB-CA3D-456F-AE04-5F2A17A4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36B8"/>
                </a:solidFill>
              </a:defRPr>
            </a:pPr>
            <a:r>
              <a:rPr sz="1875" b="1">
                <a:solidFill>
                  <a:srgbClr val="FF36B8"/>
                </a:solidFill>
              </a:rPr>
              <a:t>→ 实验验证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FF856-235A-4C17-8AA8-AFDA0087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67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3DDE8"/>
                </a:solidFill>
              </a:defRPr>
            </a:pPr>
            <a:r>
              <a:rPr sz="1875" b="1">
                <a:solidFill>
                  <a:srgbClr val="23DDE8"/>
                </a:solidFill>
              </a:rPr>
              <a:t>→ 安全规模化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BB8531-DB62-478F-B85E-D560B5EA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57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85"/>
                </a:solidFill>
              </a:defRPr>
            </a:pPr>
            <a:r>
              <a:rPr sz="975" b="0">
                <a:solidFill>
                  <a:srgbClr val="676785"/>
                </a:solidFill>
              </a:rPr>
              <a:t>全部案例与结果为模拟数据</a:t>
            </a:r>
          </a:p>
        </p:txBody>
      </p:sp>
    </p:spTree>
    <p:extLst>
      <p:ext uri="{BB962C8B-B14F-4D97-AF65-F5344CB8AC3E}">
        <p14:creationId xmlns:p14="http://schemas.microsoft.com/office/powerpoint/2010/main" val="5995040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8A68A2-D221-4544-89B5-27207122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191D0-0A63-49BF-9021-AE686CBA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8C1F7-4AD6-47DF-BC18-C28C6B1E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DE8"/>
                </a:solidFill>
              </a:defRPr>
            </a:pPr>
            <a:r>
              <a:rPr sz="975" b="1">
                <a:solidFill>
                  <a:srgbClr val="23DDE8"/>
                </a:solidFill>
              </a:rPr>
              <a:t>01 /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9EE91-B485-480F-B608-8197C4B6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E4BFF"/>
                </a:solidFill>
              </a:defRPr>
            </a:pPr>
            <a:r>
              <a:rPr sz="3000" b="1">
                <a:solidFill>
                  <a:srgbClr val="6E4BFF"/>
                </a:solidFill>
              </a:rPr>
              <a:t>商家不缺报表，缺的是下一步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835D6-F9E5-4F4B-BD2D-DF291B36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目标：把异常解释、经营建议、任务执行和效果验证连成闭环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323B1-39EA-4372-A1AA-C6FFE10A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85"/>
                </a:solidFill>
              </a:defRPr>
            </a:pPr>
            <a:r>
              <a:rPr sz="825" b="0">
                <a:solidFill>
                  <a:srgbClr val="676785"/>
                </a:solidFill>
              </a:rPr>
              <a:t>商智 AI 商家经营顾问 · 模拟数据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4E216-0214-4E7B-9268-80EF09F9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476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1383F-56D4-4A0A-A998-C7749E15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85"/>
                </a:solidFill>
              </a:defRPr>
            </a:pPr>
            <a:r>
              <a:rPr sz="900" b="1">
                <a:solidFill>
                  <a:srgbClr val="676785"/>
                </a:solidFill>
              </a:rPr>
              <a:t>痛点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C48FB-4430-4181-A816-F2CE6F1B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E4BFF"/>
                </a:solidFill>
              </a:defRPr>
            </a:pPr>
            <a:r>
              <a:rPr sz="2400" b="1">
                <a:solidFill>
                  <a:srgbClr val="6E4BFF"/>
                </a:solidFill>
              </a:rPr>
              <a:t>数据散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62901-E53A-413C-AC5D-8F61BF4A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85"/>
                </a:solidFill>
              </a:defRPr>
            </a:pPr>
            <a:r>
              <a:rPr sz="1050" b="0">
                <a:solidFill>
                  <a:srgbClr val="676785"/>
                </a:solidFill>
              </a:rPr>
              <a:t>订单、流量、评价、库存口径分散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5C055-8934-4EAB-BCDB-C66055D6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2476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4AA37-0431-45FF-BB97-C07705FA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62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85"/>
                </a:solidFill>
              </a:defRPr>
            </a:pPr>
            <a:r>
              <a:rPr sz="900" b="1">
                <a:solidFill>
                  <a:srgbClr val="676785"/>
                </a:solidFill>
              </a:rPr>
              <a:t>痛点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31428-320D-4B5E-A05E-33811F0B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28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36B8"/>
                </a:solidFill>
              </a:defRPr>
            </a:pPr>
            <a:r>
              <a:rPr sz="2400" b="1">
                <a:solidFill>
                  <a:srgbClr val="FF36B8"/>
                </a:solidFill>
              </a:rPr>
              <a:t>不会归因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6A950-B01C-4931-B2A9-73C64021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85"/>
                </a:solidFill>
              </a:defRPr>
            </a:pPr>
            <a:r>
              <a:rPr sz="1050" b="0">
                <a:solidFill>
                  <a:srgbClr val="676785"/>
                </a:solidFill>
              </a:rPr>
              <a:t>看到下跌，却不知道原因与优先级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31213F-B92D-43B5-97A7-81B50E8B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09750"/>
            <a:ext cx="2476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91D23-27E2-4544-B8D7-1A070016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62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85"/>
                </a:solidFill>
              </a:defRPr>
            </a:pPr>
            <a:r>
              <a:rPr sz="900" b="1">
                <a:solidFill>
                  <a:srgbClr val="676785"/>
                </a:solidFill>
              </a:rPr>
              <a:t>痛点 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29FA92-9F1A-4FD9-8159-D38F2A1A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28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DDE8"/>
                </a:solidFill>
              </a:defRPr>
            </a:pPr>
            <a:r>
              <a:rPr sz="2400" b="1">
                <a:solidFill>
                  <a:srgbClr val="23DDE8"/>
                </a:solidFill>
              </a:rPr>
              <a:t>建议难执行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26386A-1D52-4A69-B32D-EB6E3A2A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85"/>
                </a:solidFill>
              </a:defRPr>
            </a:pPr>
            <a:r>
              <a:rPr sz="1050" b="0">
                <a:solidFill>
                  <a:srgbClr val="676785"/>
                </a:solidFill>
              </a:rPr>
              <a:t>缺少成本、风险与操作入口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AF119-C3FC-4BE6-8155-1DA5CA32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09750"/>
            <a:ext cx="2476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A4B8B-4449-4559-A02F-2A5848A4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62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85"/>
                </a:solidFill>
              </a:defRPr>
            </a:pPr>
            <a:r>
              <a:rPr sz="900" b="1">
                <a:solidFill>
                  <a:srgbClr val="676785"/>
                </a:solidFill>
              </a:rPr>
              <a:t>痛点 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190F91-E1B8-4D11-90B1-0155F617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28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E4BFF"/>
                </a:solidFill>
              </a:defRPr>
            </a:pPr>
            <a:r>
              <a:rPr sz="2400" b="1">
                <a:solidFill>
                  <a:srgbClr val="6E4BFF"/>
                </a:solidFill>
              </a:rPr>
              <a:t>无法证明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E4B54-240A-4036-BB7E-07A093B9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85"/>
                </a:solidFill>
              </a:defRPr>
            </a:pPr>
            <a:r>
              <a:rPr sz="1050" b="0">
                <a:solidFill>
                  <a:srgbClr val="676785"/>
                </a:solidFill>
              </a:rPr>
              <a:t>没有实验与归因，难判断是否有效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DE6082-0989-4E9B-A047-5FCFED9C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3632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484CF-34BC-4400-90C6-588AF80D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256F"/>
                </a:solidFill>
              </a:defRPr>
            </a:pPr>
            <a:r>
              <a:rPr sz="1800" b="1">
                <a:solidFill>
                  <a:srgbClr val="34256F"/>
                </a:solidFill>
              </a:rPr>
              <a:t>产品机会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1DD407-07E7-4D8A-AE6B-A2C9C6C4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E4BFF"/>
                </a:solidFill>
              </a:defRPr>
            </a:pPr>
            <a:r>
              <a:rPr sz="2250" b="1">
                <a:solidFill>
                  <a:srgbClr val="6E4BFF"/>
                </a:solidFill>
              </a:rPr>
              <a:t>事件触发的 AI 经营顾问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1EBC2-2402-49B5-BE20-8BDE7C17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1D43"/>
                </a:solidFill>
              </a:defRPr>
            </a:pPr>
            <a:r>
              <a:rPr sz="1575" b="1">
                <a:solidFill>
                  <a:srgbClr val="211D43"/>
                </a:solidFill>
              </a:rPr>
              <a:t>可信事实 → 原因假设 → 行动建议 → 二次确认 → 任务执行 → 7日复盘</a:t>
            </a:r>
          </a:p>
        </p:txBody>
      </p:sp>
    </p:spTree>
    <p:extLst>
      <p:ext uri="{BB962C8B-B14F-4D97-AF65-F5344CB8AC3E}">
        <p14:creationId xmlns:p14="http://schemas.microsoft.com/office/powerpoint/2010/main" val="18554013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44907F-B00A-4602-A3D8-53F63B7D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8BB19-4646-4B25-92F9-583C3E2E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E9AFC-6B2C-49CE-AB68-8B5998D3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DE8"/>
                </a:solidFill>
              </a:defRPr>
            </a:pPr>
            <a:r>
              <a:rPr sz="975" b="1">
                <a:solidFill>
                  <a:srgbClr val="23DDE8"/>
                </a:solidFill>
              </a:rPr>
              <a:t>02 / DISCOVERY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85FA6-EC72-46D4-BDD1-38A94D62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E4BFF"/>
                </a:solidFill>
              </a:defRPr>
            </a:pPr>
            <a:r>
              <a:rPr sz="3000" b="1">
                <a:solidFill>
                  <a:srgbClr val="6E4BFF"/>
                </a:solidFill>
              </a:rPr>
              <a:t>5 份模拟访谈，提炼 4 个高频需求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B456A-21BE-4857-BBFE-74D53A94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正式工作需用真实招募、录音与行为数据替换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D3AA1-A934-41FD-8EFA-4A2AE04E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85"/>
                </a:solidFill>
              </a:defRPr>
            </a:pPr>
            <a:r>
              <a:rPr sz="825" b="0">
                <a:solidFill>
                  <a:srgbClr val="676785"/>
                </a:solidFill>
              </a:rPr>
              <a:t>商智 AI 商家经营顾问 · 模拟数据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27A0B-E5F2-431B-8557-B5C1C1C4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4768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8B464-0FE6-45AB-BD70-D11E7583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4BFF"/>
                </a:solidFill>
              </a:defRPr>
            </a:pPr>
            <a:r>
              <a:rPr sz="1125" b="1">
                <a:solidFill>
                  <a:srgbClr val="6E4BFF"/>
                </a:solidFill>
              </a:rPr>
              <a:t>李记小馆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DAEB3-3B8C-4516-9B98-08ED53C6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857375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11D43"/>
                </a:solidFill>
              </a:defRPr>
            </a:pPr>
            <a:r>
              <a:rPr sz="1125" b="0">
                <a:solidFill>
                  <a:srgbClr val="211D43"/>
                </a:solidFill>
              </a:rPr>
              <a:t>别只告诉我转化下降，告诉我是哪里的问题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21B0B-C463-48D5-AE62-962A191B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4768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C8968-B800-43CB-A77C-A1827FE3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4BFF"/>
                </a:solidFill>
              </a:defRPr>
            </a:pPr>
            <a:r>
              <a:rPr sz="1125" b="1">
                <a:solidFill>
                  <a:srgbClr val="6E4BFF"/>
                </a:solidFill>
              </a:rPr>
              <a:t>悦己便利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2BEB8-12F9-4D13-9D7A-0A6B357A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38425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11D43"/>
                </a:solidFill>
              </a:defRPr>
            </a:pPr>
            <a:r>
              <a:rPr sz="1125" b="0">
                <a:solidFill>
                  <a:srgbClr val="211D43"/>
                </a:solidFill>
              </a:rPr>
              <a:t>今天先处理哪十个商品？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DDBAA-D040-47AE-8AAE-A044FDB0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54768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F8B69-D529-4A01-8F58-DF267AAF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4BFF"/>
                </a:solidFill>
              </a:defRPr>
            </a:pPr>
            <a:r>
              <a:rPr sz="1125" b="1">
                <a:solidFill>
                  <a:srgbClr val="6E4BFF"/>
                </a:solidFill>
              </a:rPr>
              <a:t>乐玩桌游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ABB66-0A30-434B-B549-CA8B9919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19475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11D43"/>
                </a:solidFill>
              </a:defRPr>
            </a:pPr>
            <a:r>
              <a:rPr sz="1125" b="0">
                <a:solidFill>
                  <a:srgbClr val="211D43"/>
                </a:solidFill>
              </a:rPr>
              <a:t>工作日下午最难卖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3F883-90E1-49A4-A7FE-924026FE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54768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52056-79B3-4895-8407-78607382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4BFF"/>
                </a:solidFill>
              </a:defRPr>
            </a:pPr>
            <a:r>
              <a:rPr sz="1125" b="1">
                <a:solidFill>
                  <a:srgbClr val="6E4BFF"/>
                </a:solidFill>
              </a:rPr>
              <a:t>巷口咖啡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AA1286-A69B-4441-9B29-8056F98D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00525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11D43"/>
                </a:solidFill>
              </a:defRPr>
            </a:pPr>
            <a:r>
              <a:rPr sz="1125" b="0">
                <a:solidFill>
                  <a:srgbClr val="211D43"/>
                </a:solidFill>
              </a:rPr>
              <a:t>活动到底有没有赚？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205965-5BC0-43CD-B691-9D673438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54768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0E841C-92B1-47E0-A9DA-7BC17352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8157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4BFF"/>
                </a:solidFill>
              </a:defRPr>
            </a:pPr>
            <a:r>
              <a:rPr sz="1125" b="1">
                <a:solidFill>
                  <a:srgbClr val="6E4BFF"/>
                </a:solidFill>
              </a:rPr>
              <a:t>轻享SPA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183A12-AA25-4B02-8619-3A47C6DE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81575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11D43"/>
                </a:solidFill>
              </a:defRPr>
            </a:pPr>
            <a:r>
              <a:rPr sz="1125" b="0">
                <a:solidFill>
                  <a:srgbClr val="211D43"/>
                </a:solidFill>
              </a:rPr>
              <a:t>预约爽约不能一直靠人工提醒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A16F0-56B7-471B-8FE2-B4E63593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62125"/>
            <a:ext cx="4543425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AF2D8F-54AE-4B01-9EA1-4D337F51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256F"/>
                </a:solidFill>
              </a:defRPr>
            </a:pPr>
            <a:r>
              <a:rPr sz="1800" b="1">
                <a:solidFill>
                  <a:srgbClr val="34256F"/>
                </a:solidFill>
              </a:rPr>
              <a:t>研究结论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FA906F-0256-459B-8867-DA6BED2B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67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1D43"/>
                </a:solidFill>
              </a:defRPr>
            </a:pPr>
            <a:r>
              <a:rPr sz="1050" b="1">
                <a:solidFill>
                  <a:srgbClr val="211D43"/>
                </a:solidFill>
              </a:rPr>
              <a:t>要结论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6FF42E-80AF-472F-BBD3-C798F9EC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20478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48C945-AF1A-4B92-A903-0D1E0B68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667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85"/>
                </a:solidFill>
              </a:defRPr>
            </a:pPr>
            <a:r>
              <a:rPr sz="975" b="1">
                <a:solidFill>
                  <a:srgbClr val="676785"/>
                </a:solidFill>
              </a:rPr>
              <a:t>5/5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1ECDE8-4910-4293-A793-3F431DD3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D43"/>
                </a:solidFill>
              </a:defRPr>
            </a:pPr>
            <a:r>
              <a:rPr sz="1050" b="0">
                <a:solidFill>
                  <a:srgbClr val="211D43"/>
                </a:solidFill>
              </a:rPr>
              <a:t>可解释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EB8EE5-170F-4E3B-A7F5-0B1DA43F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16383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60F65E-344C-4837-A02D-DE035154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19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85"/>
                </a:solidFill>
              </a:defRPr>
            </a:pPr>
            <a:r>
              <a:rPr sz="975" b="1">
                <a:solidFill>
                  <a:srgbClr val="676785"/>
                </a:solidFill>
              </a:rPr>
              <a:t>4/5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E86EF0-F599-4C8A-A939-D6680DED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71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D43"/>
                </a:solidFill>
              </a:defRPr>
            </a:pPr>
            <a:r>
              <a:rPr sz="1050" b="0">
                <a:solidFill>
                  <a:srgbClr val="211D43"/>
                </a:solidFill>
              </a:rPr>
              <a:t>风险可控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A50C44-35E2-4108-8957-460E95F7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20478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D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AD1F4E-2A15-4F3C-8A7D-D3B3AF38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7719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85"/>
                </a:solidFill>
              </a:defRPr>
            </a:pPr>
            <a:r>
              <a:rPr sz="975" b="1">
                <a:solidFill>
                  <a:srgbClr val="676785"/>
                </a:solidFill>
              </a:rPr>
              <a:t>5/5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53A1F1-B71E-42B7-AC30-05473C3D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24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D43"/>
                </a:solidFill>
              </a:defRPr>
            </a:pPr>
            <a:r>
              <a:rPr sz="1050" b="0">
                <a:solidFill>
                  <a:srgbClr val="211D43"/>
                </a:solidFill>
              </a:rPr>
              <a:t>行业分层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14ACBD-592E-41B9-A047-5FF0FBCC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81500"/>
            <a:ext cx="16383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41EEF3-CDE0-44A7-819D-8E51688B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324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85"/>
                </a:solidFill>
              </a:defRPr>
            </a:pPr>
            <a:r>
              <a:rPr sz="975" b="1">
                <a:solidFill>
                  <a:srgbClr val="676785"/>
                </a:solidFill>
              </a:rPr>
              <a:t>4/5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031498-0A79-4A64-90F4-998C1E1B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D43"/>
                </a:solidFill>
              </a:defRPr>
            </a:pPr>
            <a:r>
              <a:rPr sz="1275" b="1">
                <a:solidFill>
                  <a:srgbClr val="211D43"/>
                </a:solidFill>
              </a:rPr>
              <a:t>产品原则：先给优先级，再给证据和操作。</a:t>
            </a:r>
          </a:p>
        </p:txBody>
      </p:sp>
    </p:spTree>
    <p:extLst>
      <p:ext uri="{BB962C8B-B14F-4D97-AF65-F5344CB8AC3E}">
        <p14:creationId xmlns:p14="http://schemas.microsoft.com/office/powerpoint/2010/main" val="531557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D37244-35F4-4169-9C19-6C2EBD0A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9FBA6-C8DF-413E-AC06-4AB3FF4C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23F01-4EC6-4AB9-9127-4E46FFAF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DE8"/>
                </a:solidFill>
              </a:defRPr>
            </a:pPr>
            <a:r>
              <a:rPr sz="975" b="1">
                <a:solidFill>
                  <a:srgbClr val="23DDE8"/>
                </a:solidFill>
              </a:rPr>
              <a:t>03 / SEGMENTATION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131B3-C2DE-473F-9D9B-20F28FB4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E4BFF"/>
                </a:solidFill>
              </a:defRPr>
            </a:pPr>
            <a:r>
              <a:rPr sz="3000" b="1">
                <a:solidFill>
                  <a:srgbClr val="6E4BFF"/>
                </a:solidFill>
              </a:rPr>
              <a:t>同一套 AI，不同的行业经营逻辑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9136F-7634-4CDF-835F-0C9758DE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行业差异决定指标、诊断规则、Prompt 与动作库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A30D4-CE77-4080-844A-C126E95B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85"/>
                </a:solidFill>
              </a:defRPr>
            </a:pPr>
            <a:r>
              <a:rPr sz="825" b="0">
                <a:solidFill>
                  <a:srgbClr val="676785"/>
                </a:solidFill>
              </a:rPr>
              <a:t>商智 AI 商家经营顾问 · 模拟数据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8129E-21E4-45C2-9634-F7E087C8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0BAE2-F600-4A4F-B355-1348C609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36B8"/>
                </a:solidFill>
              </a:defRPr>
            </a:pPr>
            <a:r>
              <a:rPr sz="2550" b="1">
                <a:solidFill>
                  <a:srgbClr val="FF36B8"/>
                </a:solidFill>
              </a:rPr>
              <a:t>餐饮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F39F8-F3EA-4794-B3BC-9BE76021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85"/>
                </a:solidFill>
              </a:defRPr>
            </a:pPr>
            <a:r>
              <a:rPr sz="975" b="1">
                <a:solidFill>
                  <a:srgbClr val="676785"/>
                </a:solidFill>
              </a:rPr>
              <a:t>关键任务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8715E-D6F6-449A-94A5-7EBD5318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1D43"/>
                </a:solidFill>
              </a:defRPr>
            </a:pPr>
            <a:r>
              <a:rPr sz="1425" b="1">
                <a:solidFill>
                  <a:srgbClr val="211D43"/>
                </a:solidFill>
              </a:rPr>
              <a:t>套餐 / 差评 / 复购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9C79B-2097-4BE2-8B8B-8A270509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85"/>
                </a:solidFill>
              </a:defRPr>
            </a:pPr>
            <a:r>
              <a:rPr sz="975" b="1">
                <a:solidFill>
                  <a:srgbClr val="676785"/>
                </a:solidFill>
              </a:rPr>
              <a:t>结果指标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84553-98EA-414A-A4B7-CF63865E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1D43"/>
                </a:solidFill>
              </a:defRPr>
            </a:pPr>
            <a:r>
              <a:rPr sz="1350" b="0">
                <a:solidFill>
                  <a:srgbClr val="211D43"/>
                </a:solidFill>
              </a:rPr>
              <a:t>支付转化 · 核销 · 复购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7ACB1-BD46-442B-B08D-4DCB6C70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80975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251D54-E7D3-4B82-B4F0-C149FD4F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DDE8"/>
                </a:solidFill>
              </a:defRPr>
            </a:pPr>
            <a:r>
              <a:rPr sz="2550" b="1">
                <a:solidFill>
                  <a:srgbClr val="23DDE8"/>
                </a:solidFill>
              </a:rPr>
              <a:t>零售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9B434-0E3F-4C4A-A6DB-EA9DB9AA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85"/>
                </a:solidFill>
              </a:defRPr>
            </a:pPr>
            <a:r>
              <a:rPr sz="975" b="1">
                <a:solidFill>
                  <a:srgbClr val="676785"/>
                </a:solidFill>
              </a:rPr>
              <a:t>关键任务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A3423-58D1-4A6B-86B7-70A5FC39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432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1D43"/>
                </a:solidFill>
              </a:defRPr>
            </a:pPr>
            <a:r>
              <a:rPr sz="1425" b="1">
                <a:solidFill>
                  <a:srgbClr val="211D43"/>
                </a:solidFill>
              </a:rPr>
              <a:t>库存 / 选品 / 毛利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C68F61-3D03-4ECF-8860-437E5A56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85"/>
                </a:solidFill>
              </a:defRPr>
            </a:pPr>
            <a:r>
              <a:rPr sz="975" b="1">
                <a:solidFill>
                  <a:srgbClr val="676785"/>
                </a:solidFill>
              </a:rPr>
              <a:t>结果指标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5FB57-539F-40DD-8D02-AC3622FB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148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1D43"/>
                </a:solidFill>
              </a:defRPr>
            </a:pPr>
            <a:r>
              <a:rPr sz="1350" b="0">
                <a:solidFill>
                  <a:srgbClr val="211D43"/>
                </a:solidFill>
              </a:rPr>
              <a:t>周转 · 售罄 · 毛利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8223EC-F548-4571-86CB-BF5A16F8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F0BD77-702B-4D43-9C7D-EE59F59D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E4BFF"/>
                </a:solidFill>
              </a:defRPr>
            </a:pPr>
            <a:r>
              <a:rPr sz="2550" b="1">
                <a:solidFill>
                  <a:srgbClr val="6E4BFF"/>
                </a:solidFill>
              </a:rPr>
              <a:t>休闲娱乐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AF06CD-787C-4CFF-B3A3-91FFDFB7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85"/>
                </a:solidFill>
              </a:defRPr>
            </a:pPr>
            <a:r>
              <a:rPr sz="975" b="1">
                <a:solidFill>
                  <a:srgbClr val="676785"/>
                </a:solidFill>
              </a:rPr>
              <a:t>关键任务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5B4F8-536D-4432-83A6-B09CDA04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1D43"/>
                </a:solidFill>
              </a:defRPr>
            </a:pPr>
            <a:r>
              <a:rPr sz="1425" b="1">
                <a:solidFill>
                  <a:srgbClr val="211D43"/>
                </a:solidFill>
              </a:rPr>
              <a:t>预约 / 闲时 / 套餐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42630-F6AE-4299-A699-43F2BCB1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29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85"/>
                </a:solidFill>
              </a:defRPr>
            </a:pPr>
            <a:r>
              <a:rPr sz="975" b="1">
                <a:solidFill>
                  <a:srgbClr val="676785"/>
                </a:solidFill>
              </a:rPr>
              <a:t>结果指标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5709B9-B7F8-4C75-8BB3-956C8486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148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1D43"/>
                </a:solidFill>
              </a:defRPr>
            </a:pPr>
            <a:r>
              <a:rPr sz="1350" b="0">
                <a:solidFill>
                  <a:srgbClr val="211D43"/>
                </a:solidFill>
              </a:rPr>
              <a:t>利用率 · 爽约 · 复购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998416-5DF8-455A-AAA8-5E79705C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76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256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461BEA-1BEA-428F-B66B-2799A2C3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62575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256F"/>
                </a:solidFill>
              </a:defRPr>
            </a:pPr>
            <a:r>
              <a:rPr sz="975" b="1">
                <a:solidFill>
                  <a:srgbClr val="34256F"/>
                </a:solidFill>
              </a:rPr>
              <a:t>目标用户：时间稀缺、数据能力有限、对风险敏感的中小商家经营者</a:t>
            </a:r>
          </a:p>
        </p:txBody>
      </p:sp>
    </p:spTree>
    <p:extLst>
      <p:ext uri="{BB962C8B-B14F-4D97-AF65-F5344CB8AC3E}">
        <p14:creationId xmlns:p14="http://schemas.microsoft.com/office/powerpoint/2010/main" val="12888510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E0D1A7-2FB2-4D7E-9A35-96BEFE56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70F66-F013-4821-9490-292EA418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8BA44-C361-4D81-83CB-CA18BA6E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DE8"/>
                </a:solidFill>
              </a:defRPr>
            </a:pPr>
            <a:r>
              <a:rPr sz="975" b="1">
                <a:solidFill>
                  <a:srgbClr val="23DDE8"/>
                </a:solidFill>
              </a:rPr>
              <a:t>04 /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93B83-A616-4C8F-BD7E-BF67986B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E4BFF"/>
                </a:solidFill>
              </a:defRPr>
            </a:pPr>
            <a:r>
              <a:rPr sz="3000" b="1">
                <a:solidFill>
                  <a:srgbClr val="6E4BFF"/>
                </a:solidFill>
              </a:rPr>
              <a:t>商智：从提醒到改善的 6 步闭环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003B9-CBC1-4AEC-ABFA-B5EB5F4B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每一步都可观测、可解释、可撤销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09C9D-086E-48D5-A901-E361CA2C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85"/>
                </a:solidFill>
              </a:defRPr>
            </a:pPr>
            <a:r>
              <a:rPr sz="825" b="0">
                <a:solidFill>
                  <a:srgbClr val="676785"/>
                </a:solidFill>
              </a:rPr>
              <a:t>商智 AI 商家经营顾问 · 模拟数据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5B747-438B-4F22-8975-9ED8A95D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6633B-333E-43F9-A516-B6DF1925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DDE8"/>
                </a:solidFill>
              </a:defRPr>
            </a:pPr>
            <a:r>
              <a:rPr sz="1200" b="1">
                <a:solidFill>
                  <a:srgbClr val="23DDE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9F559-1C3B-4726-A720-64362889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256F"/>
                </a:solidFill>
              </a:defRPr>
            </a:pPr>
            <a:r>
              <a:rPr sz="1875" b="1">
                <a:solidFill>
                  <a:srgbClr val="34256F"/>
                </a:solidFill>
              </a:rPr>
              <a:t>发现异常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AF248-5FFD-40B5-9ADC-B171438B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785"/>
                </a:solidFill>
              </a:defRPr>
            </a:pPr>
            <a:r>
              <a:rPr sz="1125" b="0">
                <a:solidFill>
                  <a:srgbClr val="676785"/>
                </a:solidFill>
              </a:rPr>
              <a:t>量化影响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52F6D-73CD-4365-9D71-C6818171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097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D17C6-5E91-498D-AA93-909B0FB5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812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36B8"/>
                </a:solidFill>
              </a:defRPr>
            </a:pPr>
            <a:r>
              <a:rPr sz="1200" b="1">
                <a:solidFill>
                  <a:srgbClr val="FF36B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BE2E7-24AE-4EC2-839A-F98DBF61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05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256F"/>
                </a:solidFill>
              </a:defRPr>
            </a:pPr>
            <a:r>
              <a:rPr sz="1875" b="1">
                <a:solidFill>
                  <a:srgbClr val="34256F"/>
                </a:solidFill>
              </a:rPr>
              <a:t>解释原因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1707B-B7EB-4894-874F-9B199718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81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785"/>
                </a:solidFill>
              </a:defRPr>
            </a:pPr>
            <a:r>
              <a:rPr sz="1125" b="0">
                <a:solidFill>
                  <a:srgbClr val="676785"/>
                </a:solidFill>
              </a:rPr>
              <a:t>证据+假设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7E4A8-0684-484B-86B5-37E284AF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097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798F9-9AA4-43D2-9814-9A54A7B6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812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DDE8"/>
                </a:solidFill>
              </a:defRPr>
            </a:pPr>
            <a:r>
              <a:rPr sz="1200" b="1">
                <a:solidFill>
                  <a:srgbClr val="23DDE8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811B4-D0C7-4305-8D66-0F05A4BA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05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256F"/>
                </a:solidFill>
              </a:defRPr>
            </a:pPr>
            <a:r>
              <a:rPr sz="1875" b="1">
                <a:solidFill>
                  <a:srgbClr val="34256F"/>
                </a:solidFill>
              </a:rPr>
              <a:t>给出建议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B3058-5B7D-4092-9A5E-4351EBC5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785"/>
                </a:solidFill>
              </a:defRPr>
            </a:pPr>
            <a:r>
              <a:rPr sz="1125" b="0">
                <a:solidFill>
                  <a:srgbClr val="676785"/>
                </a:solidFill>
              </a:rPr>
              <a:t>成本+风险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5BB20-5A85-4DB4-9536-8F9C8FBE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0A8D6-A483-465E-A325-081C4E3B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36B8"/>
                </a:solidFill>
              </a:defRPr>
            </a:pPr>
            <a:r>
              <a:rPr sz="1200" b="1">
                <a:solidFill>
                  <a:srgbClr val="FF36B8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D490E-4B3B-42B5-9DF8-5DB8E6CC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256F"/>
                </a:solidFill>
              </a:defRPr>
            </a:pPr>
            <a:r>
              <a:rPr sz="1875" b="1">
                <a:solidFill>
                  <a:srgbClr val="34256F"/>
                </a:solidFill>
              </a:rPr>
              <a:t>商家确认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F9EF3-83D1-49E8-96B2-B95909AD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785"/>
                </a:solidFill>
              </a:defRPr>
            </a:pPr>
            <a:r>
              <a:rPr sz="1125" b="0">
                <a:solidFill>
                  <a:srgbClr val="676785"/>
                </a:solidFill>
              </a:rPr>
              <a:t>预览+二次确认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277CBC-F335-46DF-87B2-49CF34C2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1950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CCDA50-0177-4AA6-8FC7-05AECEB9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90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DDE8"/>
                </a:solidFill>
              </a:defRPr>
            </a:pPr>
            <a:r>
              <a:rPr sz="1200" b="1">
                <a:solidFill>
                  <a:srgbClr val="23DDE8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C8B03E-5DA0-47FB-B39D-A99BD57C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14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256F"/>
                </a:solidFill>
              </a:defRPr>
            </a:pPr>
            <a:r>
              <a:rPr sz="1875" b="1">
                <a:solidFill>
                  <a:srgbClr val="34256F"/>
                </a:solidFill>
              </a:rPr>
              <a:t>执行任务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8AE975-A18B-4285-AEB6-1AFB3BCB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9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785"/>
                </a:solidFill>
              </a:defRPr>
            </a:pPr>
            <a:r>
              <a:rPr sz="1125" b="0">
                <a:solidFill>
                  <a:srgbClr val="676785"/>
                </a:solidFill>
              </a:rPr>
              <a:t>幂等+回滚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BFF203-9C80-40AE-9BD0-12312060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1950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F54AA3-FB71-41DC-944C-84143745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90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36B8"/>
                </a:solidFill>
              </a:defRPr>
            </a:pPr>
            <a:r>
              <a:rPr sz="1200" b="1">
                <a:solidFill>
                  <a:srgbClr val="FF36B8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509FAE-E391-43A4-8303-4AAB3F91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14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256F"/>
                </a:solidFill>
              </a:defRPr>
            </a:pPr>
            <a:r>
              <a:rPr sz="1875" b="1">
                <a:solidFill>
                  <a:srgbClr val="34256F"/>
                </a:solidFill>
              </a:rPr>
              <a:t>复盘效果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C0D02A-A181-4ECA-8CE1-2194533F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9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785"/>
                </a:solidFill>
              </a:defRPr>
            </a:pPr>
            <a:r>
              <a:rPr sz="1125" b="0">
                <a:solidFill>
                  <a:srgbClr val="676785"/>
                </a:solidFill>
              </a:rPr>
              <a:t>对照+增量</a:t>
            </a:r>
          </a:p>
        </p:txBody>
      </p:sp>
    </p:spTree>
    <p:extLst>
      <p:ext uri="{BB962C8B-B14F-4D97-AF65-F5344CB8AC3E}">
        <p14:creationId xmlns:p14="http://schemas.microsoft.com/office/powerpoint/2010/main" val="5390904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7F6191-6D53-4921-B4DE-DC672B72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CB43B-74A4-4FD0-A273-B1D9DBB9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D4FCF-F7E3-4ECA-977D-F9210942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DE8"/>
                </a:solidFill>
              </a:defRPr>
            </a:pPr>
            <a:r>
              <a:rPr sz="975" b="1">
                <a:solidFill>
                  <a:srgbClr val="23DDE8"/>
                </a:solidFill>
              </a:rPr>
              <a:t>05 /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48587-EAEE-4F08-AED8-113104F8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E4BFF"/>
                </a:solidFill>
              </a:defRPr>
            </a:pPr>
            <a:r>
              <a:rPr sz="3000" b="1">
                <a:solidFill>
                  <a:srgbClr val="6E4BFF"/>
                </a:solidFill>
              </a:rPr>
              <a:t>大模型组织解释，不生成事实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BB38E-2CA3-4AE1-8F64-FC9F95AC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事实来自受控查询；高风险操作必须确认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8B3F6-DDF9-4949-9A0E-C8BB0E5D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85"/>
                </a:solidFill>
              </a:defRPr>
            </a:pPr>
            <a:r>
              <a:rPr sz="825" b="0">
                <a:solidFill>
                  <a:srgbClr val="676785"/>
                </a:solidFill>
              </a:rPr>
              <a:t>商智 AI 商家经营顾问 · 模拟数据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2A371-BF01-4B8F-837C-233A5BC0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4DE5A-497F-40E1-A651-2FA13579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88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4256F"/>
                </a:solidFill>
              </a:defRPr>
            </a:pPr>
            <a:r>
              <a:rPr sz="1425" b="1">
                <a:solidFill>
                  <a:srgbClr val="34256F"/>
                </a:solidFill>
              </a:rPr>
              <a:t>数据层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64952-4ED9-4CC6-AA47-2F535603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288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1D43"/>
                </a:solidFill>
              </a:defRPr>
            </a:pPr>
            <a:r>
              <a:rPr sz="1350" b="0">
                <a:solidFill>
                  <a:srgbClr val="211D43"/>
                </a:solidFill>
              </a:rPr>
              <a:t>订单 · 流量 · 评价 · 库存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BFD1F-E3A0-47BB-B9C4-BDE3B713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10096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E979E-0CD4-4F3E-A54F-CD8AA13B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479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4256F"/>
                </a:solidFill>
              </a:defRPr>
            </a:pPr>
            <a:r>
              <a:rPr sz="1425" b="1">
                <a:solidFill>
                  <a:srgbClr val="34256F"/>
                </a:solidFill>
              </a:rPr>
              <a:t>诊断层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F6F09-5EB7-46F2-8DFC-5349CAD7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1D43"/>
                </a:solidFill>
              </a:defRPr>
            </a:pPr>
            <a:r>
              <a:rPr sz="1350" b="0">
                <a:solidFill>
                  <a:srgbClr val="211D43"/>
                </a:solidFill>
              </a:rPr>
              <a:t>异常检测 · 漏斗拆解 · 贡献归因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4CCAB-749A-4D04-A095-8FDED223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10096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E8FF"/>
          </a:solidFill>
          <a:ln xmlns:a="http://schemas.openxmlformats.org/drawingml/2006/main" w="9525">
            <a:solidFill>
              <a:srgbClr val="6E4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F030A-E094-4233-90AE-BAFB1281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671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E4BFF"/>
                </a:solidFill>
              </a:defRPr>
            </a:pPr>
            <a:r>
              <a:rPr sz="1425" b="1">
                <a:solidFill>
                  <a:srgbClr val="6E4BFF"/>
                </a:solidFill>
              </a:rPr>
              <a:t>生成层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BC6B0-D449-446B-8FC2-E750B7A9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671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1D43"/>
                </a:solidFill>
              </a:defRPr>
            </a:pPr>
            <a:r>
              <a:rPr sz="1350" b="0">
                <a:solidFill>
                  <a:srgbClr val="211D43"/>
                </a:solidFill>
              </a:rPr>
              <a:t>Prompt · RAG · 约束检查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93A75-13FE-4E42-91F8-83F872EE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0096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2CB58-FEFB-4AE8-8B69-94E7AC19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4256F"/>
                </a:solidFill>
              </a:defRPr>
            </a:pPr>
            <a:r>
              <a:rPr sz="1425" b="1">
                <a:solidFill>
                  <a:srgbClr val="34256F"/>
                </a:solidFill>
              </a:rPr>
              <a:t>行动层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724B3-B631-4E43-BF1E-F4BC1E03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1D43"/>
                </a:solidFill>
              </a:defRPr>
            </a:pPr>
            <a:r>
              <a:rPr sz="1350" b="0">
                <a:solidFill>
                  <a:srgbClr val="211D43"/>
                </a:solidFill>
              </a:rPr>
              <a:t>预览 · 确认 · 工具调用 · 回滚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80709-17D8-4F6D-8E4A-265BF3AE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91100"/>
            <a:ext cx="10096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30E49-952F-4C4E-B7D8-F52518D8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4256F"/>
                </a:solidFill>
              </a:defRPr>
            </a:pPr>
            <a:r>
              <a:rPr sz="1425" b="1">
                <a:solidFill>
                  <a:srgbClr val="34256F"/>
                </a:solidFill>
              </a:rPr>
              <a:t>评测层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F57ED-3EBF-47B9-BD90-DCF70C8E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054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1D43"/>
                </a:solidFill>
              </a:defRPr>
            </a:pPr>
            <a:r>
              <a:rPr sz="1350" b="0">
                <a:solidFill>
                  <a:srgbClr val="211D43"/>
                </a:solidFill>
              </a:rPr>
              <a:t>离线标注 · A/B实验 · 护栏监控</a:t>
            </a:r>
          </a:p>
        </p:txBody>
      </p:sp>
    </p:spTree>
    <p:extLst>
      <p:ext uri="{BB962C8B-B14F-4D97-AF65-F5344CB8AC3E}">
        <p14:creationId xmlns:p14="http://schemas.microsoft.com/office/powerpoint/2010/main" val="2543054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956E19-973C-4531-988B-53E41FB0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E06DB-5BAB-49E1-ABE8-13A27A1B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E19BA-06DE-42D8-BA00-EE01769B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DE8"/>
                </a:solidFill>
              </a:defRPr>
            </a:pPr>
            <a:r>
              <a:rPr sz="975" b="1">
                <a:solidFill>
                  <a:srgbClr val="23DDE8"/>
                </a:solidFill>
              </a:rPr>
              <a:t>06 /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2EFE4-6EF6-481D-8A38-A5A49910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E4BFF"/>
                </a:solidFill>
              </a:defRPr>
            </a:pPr>
            <a:r>
              <a:rPr sz="3000" b="1">
                <a:solidFill>
                  <a:srgbClr val="6E4BFF"/>
                </a:solidFill>
              </a:rPr>
              <a:t>把策略产品化，而不是只做聊天框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F493D-7168-43E0-8A18-465F396A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实验配置与标注工作台是规模化运营的关键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9C8EA-5C8E-4304-83EE-941422A5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85"/>
                </a:solidFill>
              </a:defRPr>
            </a:pPr>
            <a:r>
              <a:rPr sz="825" b="0">
                <a:solidFill>
                  <a:srgbClr val="676785"/>
                </a:solidFill>
              </a:rPr>
              <a:t>商智 AI 商家经营顾问 · 模拟数据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94570-59DD-4746-971E-37D5716F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95875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83B93-69E2-4245-A0BB-8E2B49DF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E4BFF"/>
                </a:solidFill>
              </a:defRPr>
            </a:pPr>
            <a:r>
              <a:rPr sz="1875" b="1">
                <a:solidFill>
                  <a:srgbClr val="6E4BFF"/>
                </a:solidFill>
              </a:rPr>
              <a:t>实验配置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1A033-5845-4A26-98B0-56F8FB44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785"/>
                </a:solidFill>
              </a:defRPr>
            </a:pPr>
            <a:r>
              <a:rPr sz="1125" b="0">
                <a:solidFill>
                  <a:srgbClr val="676785"/>
                </a:solidFill>
              </a:rPr>
              <a:t>人群 / 触发 / Prompt A-B / 流量 / 指标 / 护栏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B2E96-08CD-4E41-8385-C9328242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000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DAD29-A753-4DFF-8C28-9A3D4D7E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85"/>
                </a:solidFill>
              </a:defRPr>
            </a:pPr>
            <a:r>
              <a:rPr sz="900" b="1">
                <a:solidFill>
                  <a:srgbClr val="676785"/>
                </a:solidFill>
              </a:rPr>
              <a:t>实验流量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632B5-0E75-482A-97C7-100650B3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DDE8"/>
                </a:solidFill>
              </a:defRPr>
            </a:pPr>
            <a:r>
              <a:rPr sz="2400" b="1">
                <a:solidFill>
                  <a:srgbClr val="23DDE8"/>
                </a:solidFill>
              </a:rPr>
              <a:t>50 / 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7475E-B90A-4E49-BAB3-4B569997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619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85"/>
                </a:solidFill>
              </a:defRPr>
            </a:pPr>
            <a:r>
              <a:rPr sz="1050" b="0">
                <a:solidFill>
                  <a:srgbClr val="676785"/>
                </a:solidFill>
              </a:rPr>
              <a:t>商家ID稳定分流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526CC-5019-4985-A5AD-993AC059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0E895-62F5-4B8A-BABF-8724D775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05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85"/>
                </a:solidFill>
              </a:defRPr>
            </a:pPr>
            <a:r>
              <a:rPr sz="900" b="1">
                <a:solidFill>
                  <a:srgbClr val="676785"/>
                </a:solidFill>
              </a:rPr>
              <a:t>主要指标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61523-41E2-4A5D-ACA1-726EFD09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71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36B8"/>
                </a:solidFill>
              </a:defRPr>
            </a:pPr>
            <a:r>
              <a:rPr sz="2400" b="1">
                <a:solidFill>
                  <a:srgbClr val="FF36B8"/>
                </a:solidFill>
              </a:rPr>
              <a:t>回复率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A03AB-7D51-480F-8FC2-2823F6A4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67150"/>
            <a:ext cx="2000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85"/>
                </a:solidFill>
              </a:defRPr>
            </a:pPr>
            <a:r>
              <a:rPr sz="1050" b="0">
                <a:solidFill>
                  <a:srgbClr val="676785"/>
                </a:solidFill>
              </a:rPr>
              <a:t>采纳率 · 完成率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9A543-FA83-45A1-9107-84851926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4191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4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D89651-7B84-462F-A5CD-C21C1A8F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00575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4BFF"/>
                </a:solidFill>
              </a:defRPr>
            </a:pPr>
            <a:r>
              <a:rPr sz="975" b="1">
                <a:solidFill>
                  <a:srgbClr val="6E4BFF"/>
                </a:solidFill>
              </a:rPr>
              <a:t>创建草稿 → 审核 → 小流量 → 扩量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790DC-F5B5-4305-A65F-40C5363E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14500"/>
            <a:ext cx="5019675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76D82-7ADC-4B73-959D-F7541BCA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52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36B8"/>
                </a:solidFill>
              </a:defRPr>
            </a:pPr>
            <a:r>
              <a:rPr sz="1875" b="1">
                <a:solidFill>
                  <a:srgbClr val="FF36B8"/>
                </a:solidFill>
              </a:rPr>
              <a:t>标注工作台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D3BB2-E153-472F-8B72-5FAB5E15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81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6785"/>
                </a:solidFill>
              </a:defRPr>
            </a:pPr>
            <a:r>
              <a:rPr sz="1125" b="0">
                <a:solidFill>
                  <a:srgbClr val="676785"/>
                </a:solidFill>
              </a:rPr>
              <a:t>八维 1–5 分 + 严重错误 + 仲裁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410247-DAE5-4D8B-8DBC-AC676527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000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1D43"/>
                </a:solidFill>
              </a:defRPr>
            </a:pPr>
            <a:r>
              <a:rPr sz="1050" b="1">
                <a:solidFill>
                  <a:srgbClr val="211D43"/>
                </a:solidFill>
              </a:rPr>
              <a:t>判断准确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43218B-B7A2-457E-A9BF-715FE14A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057525"/>
            <a:ext cx="19716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0FDA2A-3A5D-4BE4-8C67-98FB98A3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003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85"/>
                </a:solidFill>
              </a:defRPr>
            </a:pPr>
            <a:r>
              <a:rPr sz="975" b="1">
                <a:solidFill>
                  <a:srgbClr val="676785"/>
                </a:solidFill>
              </a:rPr>
              <a:t>4.5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0E88FD-4666-4C44-88FE-6E1CFB37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476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D43"/>
                </a:solidFill>
              </a:defRPr>
            </a:pPr>
            <a:r>
              <a:rPr sz="1050" b="0">
                <a:solidFill>
                  <a:srgbClr val="211D43"/>
                </a:solidFill>
              </a:rPr>
              <a:t>数据正确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7EA68C-84BE-4E11-863C-05849907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533775"/>
            <a:ext cx="188404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D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F142D4-8732-473F-B9AB-2E275841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070" y="34766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85"/>
                </a:solidFill>
              </a:defRPr>
            </a:pPr>
            <a:r>
              <a:rPr sz="975" b="1">
                <a:solidFill>
                  <a:srgbClr val="676785"/>
                </a:solidFill>
              </a:rPr>
              <a:t>4.3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BC47A8-F086-43F0-B1A3-DC576683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D43"/>
                </a:solidFill>
              </a:defRPr>
            </a:pPr>
            <a:r>
              <a:rPr sz="1050" b="0">
                <a:solidFill>
                  <a:srgbClr val="211D43"/>
                </a:solidFill>
              </a:rPr>
              <a:t>建议可执行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89B7DB-A498-41B9-88B5-BA1BD8BE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010025"/>
            <a:ext cx="179641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E70718-DDC1-4A57-ABDD-A24E0D1B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440" y="39528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85"/>
                </a:solidFill>
              </a:defRPr>
            </a:pPr>
            <a:r>
              <a:rPr sz="975" b="1">
                <a:solidFill>
                  <a:srgbClr val="676785"/>
                </a:solidFill>
              </a:rPr>
              <a:t>4.1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B4ABD6-FD12-4475-9F4B-23006486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429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D43"/>
                </a:solidFill>
              </a:defRPr>
            </a:pPr>
            <a:r>
              <a:rPr sz="1050" b="0">
                <a:solidFill>
                  <a:srgbClr val="211D43"/>
                </a:solidFill>
              </a:rPr>
              <a:t>行业适配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D935B1-E956-4223-9A9F-991948EB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486275"/>
            <a:ext cx="192786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E1C394-D925-4C23-8AA6-686CC9E3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885" y="4429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85"/>
                </a:solidFill>
              </a:defRPr>
            </a:pPr>
            <a:r>
              <a:rPr sz="975" b="1">
                <a:solidFill>
                  <a:srgbClr val="676785"/>
                </a:solidFill>
              </a:rPr>
              <a:t>4.4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E104D9-19BD-44D5-B275-FCA3BF94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3429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36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29C0D6-7C13-4A1B-834B-E118CAB6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76825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36B8"/>
                </a:solidFill>
              </a:defRPr>
            </a:pPr>
            <a:r>
              <a:rPr sz="975" b="1">
                <a:solidFill>
                  <a:srgbClr val="FF36B8"/>
                </a:solidFill>
              </a:rPr>
              <a:t>严重错误不能被平均分抵消</a:t>
            </a:r>
          </a:p>
        </p:txBody>
      </p:sp>
    </p:spTree>
    <p:extLst>
      <p:ext uri="{BB962C8B-B14F-4D97-AF65-F5344CB8AC3E}">
        <p14:creationId xmlns:p14="http://schemas.microsoft.com/office/powerpoint/2010/main" val="7629770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2B434C-B948-4087-AE35-FFA217F1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E2FDD-F4C8-4277-9F8A-5421AF8A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79C3B-D4F5-445B-8076-10CAD1AE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DE8"/>
                </a:solidFill>
              </a:defRPr>
            </a:pPr>
            <a:r>
              <a:rPr sz="975" b="1">
                <a:solidFill>
                  <a:srgbClr val="23DDE8"/>
                </a:solidFill>
              </a:rPr>
              <a:t>07 /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BA3EF-FFE3-48A3-AF51-0C80E3A0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E4BFF"/>
                </a:solidFill>
              </a:defRPr>
            </a:pPr>
            <a:r>
              <a:rPr sz="3000" b="1">
                <a:solidFill>
                  <a:srgbClr val="6E4BFF"/>
                </a:solidFill>
              </a:rPr>
              <a:t>A/B：具体损失 + 原因 + 行动建议，能否提高回复？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DC4F6-D65B-4E90-ABC4-C0B2F427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模拟方向性结果；真实上线需功效分析与显著性检验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97EE6-7A91-4681-831C-2B20B179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85"/>
                </a:solidFill>
              </a:defRPr>
            </a:pPr>
            <a:r>
              <a:rPr sz="825" b="0">
                <a:solidFill>
                  <a:srgbClr val="676785"/>
                </a:solidFill>
              </a:rPr>
              <a:t>商智 AI 商家经营顾问 · 模拟数据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861EF-36F6-48D6-8202-484A02B7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953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0B0B4-C462-455D-A2A9-B6C441D7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76785"/>
                </a:solidFill>
              </a:defRPr>
            </a:pPr>
            <a:r>
              <a:rPr sz="1275" b="1">
                <a:solidFill>
                  <a:srgbClr val="676785"/>
                </a:solidFill>
              </a:rPr>
              <a:t>A 组 · 泛化开场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818D8-5524-4BBD-A3D0-81FA4788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1D43"/>
                </a:solidFill>
              </a:defRPr>
            </a:pPr>
            <a:r>
              <a:rPr sz="1575" b="1">
                <a:solidFill>
                  <a:srgbClr val="211D43"/>
                </a:solidFill>
              </a:rPr>
              <a:t>“您最近的经营数据存在异常，点击查看详情。”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10F37-6635-498B-AD3B-440B1A07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33550"/>
            <a:ext cx="52578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06B0F-9316-45ED-80D8-34E5B035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526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36B8"/>
                </a:solidFill>
              </a:defRPr>
            </a:pPr>
            <a:r>
              <a:rPr sz="1275" b="1">
                <a:solidFill>
                  <a:srgbClr val="FF36B8"/>
                </a:solidFill>
              </a:rPr>
              <a:t>B 组 · 具体开场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44A50-8028-401B-90DE-C5B1D406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24100"/>
            <a:ext cx="464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D43"/>
                </a:solidFill>
              </a:defRPr>
            </a:pPr>
            <a:r>
              <a:rPr sz="1500" b="1">
                <a:solidFill>
                  <a:srgbClr val="211D43"/>
                </a:solidFill>
              </a:rPr>
              <a:t>“套餐曝光上涨12%，但每天少成交约8单，可能与近期差评有关。我整理了3条建议。”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4A40F-1E68-4A5A-8DB8-2BCCEC42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ACA0F-770E-437D-80FF-67DD1D1A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85"/>
                </a:solidFill>
              </a:defRPr>
            </a:pPr>
            <a:r>
              <a:rPr sz="900" b="1">
                <a:solidFill>
                  <a:srgbClr val="676785"/>
                </a:solidFill>
              </a:rPr>
              <a:t>回复率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B9119-CAEC-4A97-9147-81B2ECC8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814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76785"/>
                </a:solidFill>
              </a:defRPr>
            </a:pPr>
            <a:r>
              <a:rPr sz="2400" b="1">
                <a:solidFill>
                  <a:srgbClr val="676785"/>
                </a:solidFill>
              </a:rPr>
              <a:t>30.8%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3BD12-3F98-4F0E-8446-3DBC2724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85"/>
                </a:solidFill>
              </a:defRPr>
            </a:pPr>
            <a:r>
              <a:rPr sz="1050" b="0">
                <a:solidFill>
                  <a:srgbClr val="676785"/>
                </a:solidFill>
              </a:rPr>
              <a:t>基线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29779-EB43-4273-9DC5-66860D71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62375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C373C-0D88-4BC9-BEF0-5BE42B73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147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85"/>
                </a:solidFill>
              </a:defRPr>
            </a:pPr>
            <a:r>
              <a:rPr sz="900" b="1">
                <a:solidFill>
                  <a:srgbClr val="676785"/>
                </a:solidFill>
              </a:rPr>
              <a:t>回复率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92A55-FF1D-4EE7-890B-81AF7028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814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36B8"/>
                </a:solidFill>
              </a:defRPr>
            </a:pPr>
            <a:r>
              <a:rPr sz="2400" b="1">
                <a:solidFill>
                  <a:srgbClr val="FF36B8"/>
                </a:solidFill>
              </a:rPr>
              <a:t>39.0%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054DE5-A398-4372-8E8E-C111747A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767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85"/>
                </a:solidFill>
              </a:defRPr>
            </a:pPr>
            <a:r>
              <a:rPr sz="1050" b="0">
                <a:solidFill>
                  <a:srgbClr val="676785"/>
                </a:solidFill>
              </a:rPr>
              <a:t>+8.2pp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092B06-3200-4CB1-A894-61880BB0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62375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73BA1-FE66-42D2-89D6-F681D1B1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147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85"/>
                </a:solidFill>
              </a:defRPr>
            </a:pPr>
            <a:r>
              <a:rPr sz="900" b="1">
                <a:solidFill>
                  <a:srgbClr val="676785"/>
                </a:solidFill>
              </a:rPr>
              <a:t>采纳率 Lift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350B6-3CDF-41BD-9227-F7AA75D1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814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E4BFF"/>
                </a:solidFill>
              </a:defRPr>
            </a:pPr>
            <a:r>
              <a:rPr sz="2400" b="1">
                <a:solidFill>
                  <a:srgbClr val="6E4BFF"/>
                </a:solidFill>
              </a:rPr>
              <a:t>+12.6pp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965F1F-032C-4814-B14F-0326A7E6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767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85"/>
                </a:solidFill>
              </a:defRPr>
            </a:pPr>
            <a:r>
              <a:rPr sz="1050" b="0">
                <a:solidFill>
                  <a:srgbClr val="676785"/>
                </a:solidFill>
              </a:rPr>
              <a:t>方向性改善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093E7A-FB37-437B-B29B-D0A58DB7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62375"/>
            <a:ext cx="2762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528FBA-7E02-4C1D-80D9-90A4B6DA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147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85"/>
                </a:solidFill>
              </a:defRPr>
            </a:pPr>
            <a:r>
              <a:rPr sz="900" b="1">
                <a:solidFill>
                  <a:srgbClr val="676785"/>
                </a:solidFill>
              </a:rPr>
              <a:t>决策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745B8A-915D-4E7A-B0E5-7C96D872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814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DDE8"/>
                </a:solidFill>
              </a:defRPr>
            </a:pPr>
            <a:r>
              <a:rPr sz="2400" b="1">
                <a:solidFill>
                  <a:srgbClr val="23DDE8"/>
                </a:solidFill>
              </a:rPr>
              <a:t>继续验证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67A00-E3D5-47B3-BE56-1C9C3545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767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85"/>
                </a:solidFill>
              </a:defRPr>
            </a:pPr>
            <a:r>
              <a:rPr sz="1050" b="0">
                <a:solidFill>
                  <a:srgbClr val="676785"/>
                </a:solidFill>
              </a:rPr>
              <a:t>护栏安全后扩量</a:t>
            </a:r>
          </a:p>
        </p:txBody>
      </p:sp>
    </p:spTree>
    <p:extLst>
      <p:ext uri="{BB962C8B-B14F-4D97-AF65-F5344CB8AC3E}">
        <p14:creationId xmlns:p14="http://schemas.microsoft.com/office/powerpoint/2010/main" val="225774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A4E4CE-ADEC-4F95-A301-587E8D62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76ADC-66A0-4633-900B-61460766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1A14D-E20E-4856-9EC2-777FEDF4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DE8"/>
                </a:solidFill>
              </a:defRPr>
            </a:pPr>
            <a:r>
              <a:rPr sz="975" b="1">
                <a:solidFill>
                  <a:srgbClr val="23DDE8"/>
                </a:solidFill>
              </a:rPr>
              <a:t>08 /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76E05-5E96-45A7-8FAB-4F9B53DC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E4BFF"/>
                </a:solidFill>
              </a:defRPr>
            </a:pPr>
            <a:r>
              <a:rPr sz="3000" b="1">
                <a:solidFill>
                  <a:srgbClr val="6E4BFF"/>
                </a:solidFill>
              </a:rPr>
              <a:t>150 条案例，八维评分，严重错误单独拦截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101E1-4912-4786-98F6-ACA0680F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覆盖餐饮、零售、休闲娱乐与 12 类经营问题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95325-748B-4A90-A146-BF3149A5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85"/>
                </a:solidFill>
              </a:defRPr>
            </a:pPr>
            <a:r>
              <a:rPr sz="825" b="0">
                <a:solidFill>
                  <a:srgbClr val="676785"/>
                </a:solidFill>
              </a:rPr>
              <a:t>商智 AI 商家经营顾问 · 模拟数据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DACF3-3ABE-4011-85F6-0C29F97E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8755E-56B9-4EF8-851E-A5B73C62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45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85"/>
                </a:solidFill>
              </a:defRPr>
            </a:pPr>
            <a:r>
              <a:rPr sz="900" b="1">
                <a:solidFill>
                  <a:srgbClr val="676785"/>
                </a:solidFill>
              </a:rPr>
              <a:t>案例数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1104B-A728-4E91-9947-9233DC45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E4BFF"/>
                </a:solidFill>
              </a:defRPr>
            </a:pPr>
            <a:r>
              <a:rPr sz="2400" b="1">
                <a:solidFill>
                  <a:srgbClr val="6E4BFF"/>
                </a:solidFill>
              </a:rPr>
              <a:t>150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C7F38-1877-4E48-AEE3-D1C45735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765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85"/>
                </a:solidFill>
              </a:defRPr>
            </a:pPr>
            <a:r>
              <a:rPr sz="1050" b="0">
                <a:solidFill>
                  <a:srgbClr val="676785"/>
                </a:solidFill>
              </a:rPr>
              <a:t>50 × 3 行业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36476-6347-4AC6-93CA-B5A9ED96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62125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0FE33-4BD9-4F8F-89B9-80AD5302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145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85"/>
                </a:solidFill>
              </a:defRPr>
            </a:pPr>
            <a:r>
              <a:rPr sz="900" b="1">
                <a:solidFill>
                  <a:srgbClr val="676785"/>
                </a:solidFill>
              </a:rPr>
              <a:t>评分维度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64FAF-7930-43FC-BD80-6F9E68D4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812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DDE8"/>
                </a:solidFill>
              </a:defRPr>
            </a:pPr>
            <a:r>
              <a:rPr sz="2400" b="1">
                <a:solidFill>
                  <a:srgbClr val="23DDE8"/>
                </a:solidFill>
              </a:rPr>
              <a:t>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1032D-F4D0-42AD-BFC8-B23BCA4D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765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85"/>
                </a:solidFill>
              </a:defRPr>
            </a:pPr>
            <a:r>
              <a:rPr sz="1050" b="0">
                <a:solidFill>
                  <a:srgbClr val="676785"/>
                </a:solidFill>
              </a:rPr>
              <a:t>准确 · 正确 · 可执行 · 安全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FD683-6251-4D0C-8D0A-19C1EC69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62125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431A1-5A95-42C8-ACC5-BA3468E5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145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85"/>
                </a:solidFill>
              </a:defRPr>
            </a:pPr>
            <a:r>
              <a:rPr sz="900" b="1">
                <a:solidFill>
                  <a:srgbClr val="676785"/>
                </a:solidFill>
              </a:rPr>
              <a:t>重复标注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B9763-573E-4156-945B-5B5A5774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812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36B8"/>
                </a:solidFill>
              </a:defRPr>
            </a:pPr>
            <a:r>
              <a:rPr sz="2400" b="1">
                <a:solidFill>
                  <a:srgbClr val="FF36B8"/>
                </a:solidFill>
              </a:rPr>
              <a:t>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4473E-E456-4ABD-BDB3-16C5FE54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765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85"/>
                </a:solidFill>
              </a:defRPr>
            </a:pPr>
            <a:r>
              <a:rPr sz="1050" b="0">
                <a:solidFill>
                  <a:srgbClr val="676785"/>
                </a:solidFill>
              </a:rPr>
              <a:t>3 名标注员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10599-5AFA-4BBB-94F6-9D0FA45C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62125"/>
            <a:ext cx="2762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5AC47-D07E-4B15-AE9B-603D3513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145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85"/>
                </a:solidFill>
              </a:defRPr>
            </a:pPr>
            <a:r>
              <a:rPr sz="900" b="1">
                <a:solidFill>
                  <a:srgbClr val="676785"/>
                </a:solidFill>
              </a:rPr>
              <a:t>一致性目标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724EC-2987-46F4-B000-9F3B9C1C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812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E4BFF"/>
                </a:solidFill>
              </a:defRPr>
            </a:pPr>
            <a:r>
              <a:rPr sz="2400" b="1">
                <a:solidFill>
                  <a:srgbClr val="6E4BFF"/>
                </a:solidFill>
              </a:rPr>
              <a:t>&gt; 0.75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65E179-6960-4272-8A20-02A93161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765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85"/>
                </a:solidFill>
              </a:defRPr>
            </a:pPr>
            <a:r>
              <a:rPr sz="1050" b="0">
                <a:solidFill>
                  <a:srgbClr val="676785"/>
                </a:solidFill>
              </a:rPr>
              <a:t>Kappa / Alpha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0A009-7524-4DC1-8412-3737F1DC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3632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660BD4-064F-494C-BD8A-14E8233F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256F"/>
                </a:solidFill>
              </a:defRPr>
            </a:pPr>
            <a:r>
              <a:rPr sz="1650" b="1">
                <a:solidFill>
                  <a:srgbClr val="34256F"/>
                </a:solidFill>
              </a:rPr>
              <a:t>严重错误标签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42EE32-922E-4C16-9CE0-AC1FFA47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4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EE25DE-9264-4024-A1D4-63BCFA04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4BFF"/>
                </a:solidFill>
              </a:defRPr>
            </a:pPr>
            <a:r>
              <a:rPr sz="975" b="1">
                <a:solidFill>
                  <a:srgbClr val="6E4BFF"/>
                </a:solidFill>
              </a:rPr>
              <a:t>经济损失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250525-3340-4DB0-AEE2-DB21F865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33875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36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1CAA34-BB4A-42DF-858A-548F52F8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624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36B8"/>
                </a:solidFill>
              </a:defRPr>
            </a:pPr>
            <a:r>
              <a:rPr sz="975" b="1">
                <a:solidFill>
                  <a:srgbClr val="FF36B8"/>
                </a:solidFill>
              </a:rPr>
              <a:t>违规承诺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AA5650-870D-4EED-B9F2-F986980B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33875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4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FD20FE-BF23-48C1-A26E-00E1FB1F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624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4BFF"/>
                </a:solidFill>
              </a:defRPr>
            </a:pPr>
            <a:r>
              <a:rPr sz="975" b="1">
                <a:solidFill>
                  <a:srgbClr val="6E4BFF"/>
                </a:solidFill>
              </a:rPr>
              <a:t>隐私泄露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F94C97-9629-47A7-88FA-027DFC33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33875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36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615A23-2BE3-4BD2-BFFB-E0C1679C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624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36B8"/>
                </a:solidFill>
              </a:defRPr>
            </a:pPr>
            <a:r>
              <a:rPr sz="975" b="1">
                <a:solidFill>
                  <a:srgbClr val="FF36B8"/>
                </a:solidFill>
              </a:rPr>
              <a:t>突破约束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B30FFE-A8E1-42C2-A1D6-EE62C7DB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4B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65F3B5-DBBD-4B7E-9768-5B3B6A07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624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4BFF"/>
                </a:solidFill>
              </a:defRPr>
            </a:pPr>
            <a:r>
              <a:rPr sz="975" b="1">
                <a:solidFill>
                  <a:srgbClr val="6E4BFF"/>
                </a:solidFill>
              </a:rPr>
              <a:t>未确认高风险操作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AEBB0B-D5FD-4A13-8A56-6229A0F2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006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1D43"/>
                </a:solidFill>
              </a:defRPr>
            </a:pPr>
            <a:r>
              <a:rPr sz="1425" b="1">
                <a:solidFill>
                  <a:srgbClr val="211D43"/>
                </a:solidFill>
              </a:rPr>
              <a:t>任一命中 → 进入仲裁 → 阻断发布</a:t>
            </a:r>
          </a:p>
        </p:txBody>
      </p:sp>
    </p:spTree>
    <p:extLst>
      <p:ext uri="{BB962C8B-B14F-4D97-AF65-F5344CB8AC3E}">
        <p14:creationId xmlns:p14="http://schemas.microsoft.com/office/powerpoint/2010/main" val="18628491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05E876-D359-4F8A-B24A-08CE4834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2C8D0-F128-4F2B-8B77-516E9175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2AA25-33FC-46B0-A56C-86BB31B4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DE8"/>
                </a:solidFill>
              </a:defRPr>
            </a:pPr>
            <a:r>
              <a:rPr sz="975" b="1">
                <a:solidFill>
                  <a:srgbClr val="23DDE8"/>
                </a:solidFill>
              </a:rPr>
              <a:t>09 / METRICS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D3CA0-905F-441D-BB28-5CB6A275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E4BFF"/>
                </a:solidFill>
              </a:defRPr>
            </a:pPr>
            <a:r>
              <a:rPr sz="3000" b="1">
                <a:solidFill>
                  <a:srgbClr val="6E4BFF"/>
                </a:solidFill>
              </a:rPr>
              <a:t>完整转化漏斗 + 业务结果 + 安全护栏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54FDD-54FF-417D-B87B-059A0221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模型质量与业务效果分开看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EC145-9A0F-4E9B-A37A-65F9EFB3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85"/>
                </a:solidFill>
              </a:defRPr>
            </a:pPr>
            <a:r>
              <a:rPr sz="825" b="0">
                <a:solidFill>
                  <a:srgbClr val="676785"/>
                </a:solidFill>
              </a:rPr>
              <a:t>商智 AI 商家经营顾问 · 模拟数据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A84DC-2FCE-46D3-8D49-69FA0A30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38112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3D924-1D19-4DC5-BBC4-8AC7125E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256F"/>
                </a:solidFill>
              </a:defRPr>
            </a:pPr>
            <a:r>
              <a:rPr sz="1500" b="1">
                <a:solidFill>
                  <a:srgbClr val="34256F"/>
                </a:solidFill>
              </a:rPr>
              <a:t>送达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B2CB0-D9EF-4F41-8C60-159D50DA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4BFF"/>
                </a:solidFill>
              </a:defRPr>
            </a:pPr>
            <a:r>
              <a:rPr sz="1650" b="1">
                <a:solidFill>
                  <a:srgbClr val="6E4B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E6F96-FEC1-44E9-B65F-6E3A0BFB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138112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F389E-D3B2-4B2D-BD2A-3A017731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574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256F"/>
                </a:solidFill>
              </a:defRPr>
            </a:pPr>
            <a:r>
              <a:rPr sz="1500" b="1">
                <a:solidFill>
                  <a:srgbClr val="34256F"/>
                </a:solidFill>
              </a:rPr>
              <a:t>阅读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45E4D-A057-4497-9809-A40FB021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4BFF"/>
                </a:solidFill>
              </a:defRPr>
            </a:pPr>
            <a:r>
              <a:rPr sz="1650" b="1">
                <a:solidFill>
                  <a:srgbClr val="6E4BFF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99774-339D-4D2E-BCB8-7FC5CA36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05000"/>
            <a:ext cx="138112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04CB27-87EF-437F-BB6C-671C479D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574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256F"/>
                </a:solidFill>
              </a:defRPr>
            </a:pPr>
            <a:r>
              <a:rPr sz="1500" b="1">
                <a:solidFill>
                  <a:srgbClr val="34256F"/>
                </a:solidFill>
              </a:rPr>
              <a:t>回复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7A514-A302-4167-AE61-1389F2A3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4BFF"/>
                </a:solidFill>
              </a:defRPr>
            </a:pPr>
            <a:r>
              <a:rPr sz="1650" b="1">
                <a:solidFill>
                  <a:srgbClr val="6E4BF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B544F-7E3B-4A67-B88E-4641FE23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05000"/>
            <a:ext cx="138112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B5157-6548-4245-A31F-26286E31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574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256F"/>
                </a:solidFill>
              </a:defRPr>
            </a:pPr>
            <a:r>
              <a:rPr sz="1500" b="1">
                <a:solidFill>
                  <a:srgbClr val="34256F"/>
                </a:solidFill>
              </a:rPr>
              <a:t>采纳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D848AB-72D8-4C1F-B7AA-98834A29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4BFF"/>
                </a:solidFill>
              </a:defRPr>
            </a:pPr>
            <a:r>
              <a:rPr sz="1650" b="1">
                <a:solidFill>
                  <a:srgbClr val="6E4BFF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BCAA67-69CE-4558-B03E-13F3993F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138112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E434DF-575A-4C56-A351-5AFCEF88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574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256F"/>
                </a:solidFill>
              </a:defRPr>
            </a:pPr>
            <a:r>
              <a:rPr sz="1500" b="1">
                <a:solidFill>
                  <a:srgbClr val="34256F"/>
                </a:solidFill>
              </a:rPr>
              <a:t>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0C56D-ED1F-462E-B28C-405E103D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4BFF"/>
                </a:solidFill>
              </a:defRPr>
            </a:pPr>
            <a:r>
              <a:rPr sz="1650" b="1">
                <a:solidFill>
                  <a:srgbClr val="6E4BFF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340C43-2830-4DEE-9CA1-074E2FD4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05000"/>
            <a:ext cx="138112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BFF"/>
          </a:solidFill>
          <a:ln xmlns:a="http://schemas.openxmlformats.org/drawingml/2006/main" w="9525">
            <a:solidFill>
              <a:srgbClr val="23DD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C8D302-8392-447A-B177-FD7DECF8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574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3DDE8"/>
                </a:solidFill>
              </a:defRPr>
            </a:pPr>
            <a:r>
              <a:rPr sz="1500" b="1">
                <a:solidFill>
                  <a:srgbClr val="23DDE8"/>
                </a:solidFill>
              </a:rPr>
              <a:t>改善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66BC8E-EBC4-468E-88F0-B7C066A8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9530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6DFBAC-0A30-4F70-A954-CECD0305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E4BFF"/>
                </a:solidFill>
              </a:defRPr>
            </a:pPr>
            <a:r>
              <a:rPr sz="1650" b="1">
                <a:solidFill>
                  <a:srgbClr val="6E4BFF"/>
                </a:solidFill>
              </a:rPr>
              <a:t>核心指标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72C9CE-906D-4267-B475-27152BB1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D43"/>
                </a:solidFill>
              </a:defRPr>
            </a:pPr>
            <a:r>
              <a:rPr sz="1350" b="1">
                <a:solidFill>
                  <a:srgbClr val="211D43"/>
                </a:solidFill>
              </a:rPr>
              <a:t>阅读率 · 回复率 · 有效会话率</a:t>
            </a:r>
          </a:p>
          <a:p xmlns:a="http://schemas.openxmlformats.org/drawingml/2006/main">
            <a:pPr algn="l">
              <a:defRPr sz="1350" b="1">
                <a:solidFill>
                  <a:srgbClr val="211D43"/>
                </a:solidFill>
              </a:defRPr>
            </a:pPr>
            <a:r>
              <a:rPr sz="1350" b="1">
                <a:solidFill>
                  <a:srgbClr val="211D43"/>
                </a:solidFill>
              </a:rPr>
              <a:t>采纳率 · 完成率 · 7日留存</a:t>
            </a:r>
          </a:p>
          <a:p xmlns:a="http://schemas.openxmlformats.org/drawingml/2006/main">
            <a:pPr algn="l">
              <a:defRPr sz="1350" b="1">
                <a:solidFill>
                  <a:srgbClr val="211D43"/>
                </a:solidFill>
              </a:defRPr>
            </a:pPr>
            <a:r>
              <a:rPr sz="1350" b="1">
                <a:solidFill>
                  <a:srgbClr val="211D43"/>
                </a:solidFill>
              </a:rPr>
              <a:t>GMV / 订单提升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734CC9-CDCA-4347-8CC4-34518E97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48000"/>
            <a:ext cx="52578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33A97B-8922-431C-89E0-78C9E6A0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86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36B8"/>
                </a:solidFill>
              </a:defRPr>
            </a:pPr>
            <a:r>
              <a:rPr sz="1650" b="1">
                <a:solidFill>
                  <a:srgbClr val="FF36B8"/>
                </a:solidFill>
              </a:rPr>
              <a:t>护栏指标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2B3B73-2026-48B3-9DD5-947FD7F4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14750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D43"/>
                </a:solidFill>
              </a:defRPr>
            </a:pPr>
            <a:r>
              <a:rPr sz="1350" b="1">
                <a:solidFill>
                  <a:srgbClr val="211D43"/>
                </a:solidFill>
              </a:rPr>
              <a:t>AI错误建议率 &lt; 1%</a:t>
            </a:r>
          </a:p>
          <a:p xmlns:a="http://schemas.openxmlformats.org/drawingml/2006/main">
            <a:pPr algn="l">
              <a:defRPr sz="1350" b="1">
                <a:solidFill>
                  <a:srgbClr val="211D43"/>
                </a:solidFill>
              </a:defRPr>
            </a:pPr>
            <a:r>
              <a:rPr sz="1350" b="1">
                <a:solidFill>
                  <a:srgbClr val="211D43"/>
                </a:solidFill>
              </a:rPr>
              <a:t>投诉率 / 退订率不显著上升</a:t>
            </a:r>
          </a:p>
          <a:p xmlns:a="http://schemas.openxmlformats.org/drawingml/2006/main">
            <a:pPr algn="l">
              <a:defRPr sz="1350" b="1">
                <a:solidFill>
                  <a:srgbClr val="211D43"/>
                </a:solidFill>
              </a:defRPr>
            </a:pPr>
            <a:r>
              <a:rPr sz="1350" b="1">
                <a:solidFill>
                  <a:srgbClr val="211D43"/>
                </a:solidFill>
              </a:rPr>
              <a:t>高风险确认覆盖率 = 100%</a:t>
            </a:r>
          </a:p>
        </p:txBody>
      </p:sp>
    </p:spTree>
    <p:extLst>
      <p:ext uri="{BB962C8B-B14F-4D97-AF65-F5344CB8AC3E}">
        <p14:creationId xmlns:p14="http://schemas.microsoft.com/office/powerpoint/2010/main" val="18877775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C2BE93-9610-4B81-9F33-A6CE8C00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13252-F3A9-4C1D-811D-D15C30F7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192BC-5797-439E-9D69-D8D5B50B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DE8"/>
                </a:solidFill>
              </a:defRPr>
            </a:pPr>
            <a:r>
              <a:rPr sz="975" b="1">
                <a:solidFill>
                  <a:srgbClr val="23DDE8"/>
                </a:solidFill>
              </a:rPr>
              <a:t>10 /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3E3ED-E4AE-407D-99A8-034188AB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E4BFF"/>
                </a:solidFill>
              </a:defRPr>
            </a:pPr>
            <a:r>
              <a:rPr sz="3000" b="1">
                <a:solidFill>
                  <a:srgbClr val="6E4BFF"/>
                </a:solidFill>
              </a:rPr>
              <a:t>12 周验证路径：先安全，再增长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7A10A-5094-4720-8FE7-CB59D02A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每一阶段都有明确准入门槛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FD592-0DA1-47D7-B252-1823484F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85"/>
                </a:solidFill>
              </a:defRPr>
            </a:pPr>
            <a:r>
              <a:rPr sz="825" b="0">
                <a:solidFill>
                  <a:srgbClr val="676785"/>
                </a:solidFill>
              </a:rPr>
              <a:t>商智 AI 商家经营顾问 · 模拟数据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C1B6C-D917-4294-A61F-8E5B9D77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363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4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4A104-F831-4AC2-A227-E061EF02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4BFF"/>
                </a:solidFill>
              </a:defRPr>
            </a:pPr>
            <a:r>
              <a:rPr sz="1500" b="1">
                <a:solidFill>
                  <a:srgbClr val="6E4BFF"/>
                </a:solidFill>
              </a:rPr>
              <a:t>0–4 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66478-355C-405A-83DC-AD898315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895475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1D43"/>
                </a:solidFill>
              </a:defRPr>
            </a:pPr>
            <a:r>
              <a:rPr sz="1575" b="1">
                <a:solidFill>
                  <a:srgbClr val="211D43"/>
                </a:solidFill>
              </a:rPr>
              <a:t>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78765-1D9E-417D-8CEA-4F88DCD8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954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餐饮单场景 · 离线评测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1C13D-32C6-42FF-B0A2-C739D435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DD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4497E-278F-4657-816A-F1E0C06F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812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DDE8"/>
                </a:solidFill>
              </a:defRPr>
            </a:pPr>
            <a:r>
              <a:rPr sz="975" b="1">
                <a:solidFill>
                  <a:srgbClr val="23DDE8"/>
                </a:solidFill>
              </a:rPr>
              <a:t>综合分 ≥ 4.5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3916A-EF55-4229-AC0A-E7B8FF7D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363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A0267-2094-4378-99EE-059EA1A9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256F"/>
                </a:solidFill>
              </a:defRPr>
            </a:pPr>
            <a:r>
              <a:rPr sz="1500" b="1">
                <a:solidFill>
                  <a:srgbClr val="34256F"/>
                </a:solidFill>
              </a:rPr>
              <a:t>5–8 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BCC83-955E-4AB1-9FF2-0C1616E6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847975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1D43"/>
                </a:solidFill>
              </a:defRPr>
            </a:pPr>
            <a:r>
              <a:rPr sz="1575" b="1">
                <a:solidFill>
                  <a:srgbClr val="211D43"/>
                </a:solidFill>
              </a:rPr>
              <a:t>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B9EC1-1296-4BDD-B777-417766D1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479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小流量 A/B · 任务执行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665A09-7B3A-4D66-9E76-FB93BC11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05125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36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1B06C-ADB0-4C42-85E2-9DC7CAB6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9337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36B8"/>
                </a:solidFill>
              </a:defRPr>
            </a:pPr>
            <a:r>
              <a:rPr sz="975" b="1">
                <a:solidFill>
                  <a:srgbClr val="FF36B8"/>
                </a:solidFill>
              </a:rPr>
              <a:t>错误建议 &lt; 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25C89-CB20-4780-AA0A-1EAD0320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363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7447D-5A93-4C24-A816-C6F84168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256F"/>
                </a:solidFill>
              </a:defRPr>
            </a:pPr>
            <a:r>
              <a:rPr sz="1500" b="1">
                <a:solidFill>
                  <a:srgbClr val="34256F"/>
                </a:solidFill>
              </a:rPr>
              <a:t>9–12 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1B7D3B-9CAD-45BB-B82E-5E1B085F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00475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1D43"/>
                </a:solidFill>
              </a:defRPr>
            </a:pPr>
            <a:r>
              <a:rPr sz="1575" b="1">
                <a:solidFill>
                  <a:srgbClr val="211D43"/>
                </a:solidFill>
              </a:rPr>
              <a:t>扩展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6F42EA-CF71-403D-9F95-9AB64425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004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零售 / 娱乐 · 行业 Prompt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2256B1-AC97-4931-8032-3D23E068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57625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DD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8838A9-A7A3-4CF9-B7C1-34908621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8862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DDE8"/>
                </a:solidFill>
              </a:defRPr>
            </a:pPr>
            <a:r>
              <a:rPr sz="975" b="1">
                <a:solidFill>
                  <a:srgbClr val="23DDE8"/>
                </a:solidFill>
              </a:rPr>
              <a:t>显著性 &gt; 95%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8DC1F2-9A4F-4B0E-9CDF-491CC2CC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363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32BE8C-D673-47C0-9F28-7B20CC6E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5297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256F"/>
                </a:solidFill>
              </a:defRPr>
            </a:pPr>
            <a:r>
              <a:rPr sz="1500" b="1">
                <a:solidFill>
                  <a:srgbClr val="34256F"/>
                </a:solidFill>
              </a:rPr>
              <a:t>3–6 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A7684D-775A-403B-9D0E-F500FD1C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52975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1D43"/>
                </a:solidFill>
              </a:defRPr>
            </a:pPr>
            <a:r>
              <a:rPr sz="1575" b="1">
                <a:solidFill>
                  <a:srgbClr val="211D43"/>
                </a:solidFill>
              </a:rPr>
              <a:t>规模化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ED8645-C6ED-4969-97FA-0EF12C52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529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运营平台 · 自动准入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F59700-3AD2-4B68-9745-4BC33B24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0125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DD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0AF2C5-B66E-4970-97EE-00DC720D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387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DDE8"/>
                </a:solidFill>
              </a:defRPr>
            </a:pPr>
            <a:r>
              <a:rPr sz="975" b="1">
                <a:solidFill>
                  <a:srgbClr val="23DDE8"/>
                </a:solidFill>
              </a:rPr>
              <a:t>护栏长期稳定</a:t>
            </a:r>
          </a:p>
        </p:txBody>
      </p:sp>
    </p:spTree>
    <p:extLst>
      <p:ext uri="{BB962C8B-B14F-4D97-AF65-F5344CB8AC3E}">
        <p14:creationId xmlns:p14="http://schemas.microsoft.com/office/powerpoint/2010/main" val="8740191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1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D9A11B-2DC0-4A31-B41F-DBC08C50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1F461-37A2-434A-A983-D17D2C07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1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880C4-CFF2-4D72-A694-8D6C3052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DE8"/>
                </a:solidFill>
              </a:defRPr>
            </a:pPr>
            <a:r>
              <a:rPr sz="975" b="1">
                <a:solidFill>
                  <a:srgbClr val="23DDE8"/>
                </a:solidFill>
              </a:rPr>
              <a:t>11 / TAKEAWAY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DD24F-817B-4AD0-91D6-9C468E67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E4BFF"/>
                </a:solidFill>
              </a:defRPr>
            </a:pPr>
            <a:r>
              <a:rPr sz="3000" b="1">
                <a:solidFill>
                  <a:srgbClr val="6E4BFF"/>
                </a:solidFill>
              </a:rPr>
              <a:t>这不是一个聊天 Demo，而是一套可验证的 AI 产品系统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8B488-EC18-4727-8312-411CA00E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面试时重点讲清楚：为什么、如何证明、如何安全上线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A817C-4FB2-48C0-878C-1298B958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85"/>
                </a:solidFill>
              </a:defRPr>
            </a:pPr>
            <a:r>
              <a:rPr sz="825" b="0">
                <a:solidFill>
                  <a:srgbClr val="676785"/>
                </a:solidFill>
              </a:rPr>
              <a:t>商智 AI 商家经营顾问 · 模拟数据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E4399-7B49-46A6-9459-C8DE0430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333625" cy="26670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04298-E434-463D-8A8A-71FBEA60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DDE8"/>
                </a:solidFill>
              </a:defRPr>
            </a:pPr>
            <a:r>
              <a:rPr sz="1200" b="1">
                <a:solidFill>
                  <a:srgbClr val="23DDE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D3BB2-2C77-4696-B859-7111E755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4256F"/>
                </a:solidFill>
              </a:defRPr>
            </a:pPr>
            <a:r>
              <a:rPr sz="2025" b="1">
                <a:solidFill>
                  <a:srgbClr val="34256F"/>
                </a:solidFill>
              </a:rPr>
              <a:t>定义问题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93A91-FF05-4C36-AF9B-801A723A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从商家任务和证据出发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9FAF7-0BDE-413E-9E43-FD2278C0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52625"/>
            <a:ext cx="2333625" cy="26670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DED86-CF40-408D-8B7F-AD3A3AFD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717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36B8"/>
                </a:solidFill>
              </a:defRPr>
            </a:pPr>
            <a:r>
              <a:rPr sz="1200" b="1">
                <a:solidFill>
                  <a:srgbClr val="FF36B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1DCAB-4123-425E-90AD-3E1765B1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4256F"/>
                </a:solidFill>
              </a:defRPr>
            </a:pPr>
            <a:r>
              <a:rPr sz="2025" b="1">
                <a:solidFill>
                  <a:srgbClr val="34256F"/>
                </a:solidFill>
              </a:rPr>
              <a:t>设计产品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A2380-3781-4295-80DC-CEA9EC79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Prompt、流程、权限、回滚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A4865-785A-408F-B458-3E623721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52625"/>
            <a:ext cx="2333625" cy="26670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2F175-2978-4A84-99F4-E8961FA6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717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DDE8"/>
                </a:solidFill>
              </a:defRPr>
            </a:pPr>
            <a:r>
              <a:rPr sz="1200" b="1">
                <a:solidFill>
                  <a:srgbClr val="23DDE8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1E8D9-72EE-4B17-A345-CB079F76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479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4256F"/>
                </a:solidFill>
              </a:defRPr>
            </a:pPr>
            <a:r>
              <a:rPr sz="2025" b="1">
                <a:solidFill>
                  <a:srgbClr val="34256F"/>
                </a:solidFill>
              </a:rPr>
              <a:t>验证价值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71932-16FE-409A-8902-4EE55503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33750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A/B实验与业务归因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F16A0-E88B-4252-992E-D60C66C6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2333625" cy="26670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9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1F4EBA-D2F2-4B01-9EB6-0DF756AF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717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36B8"/>
                </a:solidFill>
              </a:defRPr>
            </a:pPr>
            <a:r>
              <a:rPr sz="1200" b="1">
                <a:solidFill>
                  <a:srgbClr val="FF36B8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159BD-CE8D-4B80-93D8-C8F1FAF9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479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4256F"/>
                </a:solidFill>
              </a:defRPr>
            </a:pPr>
            <a:r>
              <a:rPr sz="2025" b="1">
                <a:solidFill>
                  <a:srgbClr val="34256F"/>
                </a:solidFill>
              </a:rPr>
              <a:t>治理风险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8CF8C9-247D-4F18-B3B4-D773523F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85"/>
                </a:solidFill>
              </a:defRPr>
            </a:pPr>
            <a:r>
              <a:rPr sz="1275" b="0">
                <a:solidFill>
                  <a:srgbClr val="676785"/>
                </a:solidFill>
              </a:rPr>
              <a:t>人工评测、护栏与版本准入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8AFE95-CD38-48C6-887B-3476FEEA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876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4B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AB88D3-E07A-4073-B444-4369D477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72075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4BFF"/>
                </a:solidFill>
              </a:defRPr>
            </a:pPr>
            <a:r>
              <a:rPr sz="975" b="1">
                <a:solidFill>
                  <a:srgbClr val="6E4BFF"/>
                </a:solidFill>
              </a:rPr>
              <a:t>可交付：公开网站 + PRD + 作品集PPT + 150条评测数据集</a:t>
            </a:r>
          </a:p>
        </p:txBody>
      </p:sp>
    </p:spTree>
    <p:extLst>
      <p:ext uri="{BB962C8B-B14F-4D97-AF65-F5344CB8AC3E}">
        <p14:creationId xmlns:p14="http://schemas.microsoft.com/office/powerpoint/2010/main" val="520818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2026-07-22T17:25:01.4170000Z</dcterms:created>
  <dcterms:modified xsi:type="dcterms:W3CDTF">2026-07-22T17:25:01.4170000Z</dcterms:modified>
</coreProperties>
</file>